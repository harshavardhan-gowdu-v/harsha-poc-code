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sp>
      <p:sp>
        <p:nvSpPr>
          <p:cNvPr id="3" name="Shape 1"/>
          <p:cNvSpPr/>
          <p:nvPr/>
        </p:nvSpPr>
        <p:spPr>
          <a:xfrm>
            <a:off x="6858000" y="-457200"/>
            <a:ext cx="3200400" cy="3200400"/>
          </a:xfrm>
          <a:prstGeom prst="ellipse">
            <a:avLst/>
          </a:prstGeom>
          <a:solidFill>
            <a:srgbClr val="1C7293">
              <a:alpha val="25000"/>
            </a:srgbClr>
          </a:solidFill>
          <a:ln w="12700">
            <a:solidFill>
              <a:srgbClr val="1C7293">
                <a:alpha val="25000"/>
              </a:srgbClr>
            </a:solidFill>
            <a:prstDash val="solid"/>
          </a:ln>
        </p:spPr>
      </p:sp>
      <p:sp>
        <p:nvSpPr>
          <p:cNvPr id="4" name="Shape 2"/>
          <p:cNvSpPr/>
          <p:nvPr/>
        </p:nvSpPr>
        <p:spPr>
          <a:xfrm>
            <a:off x="7772400" y="2926080"/>
            <a:ext cx="2011680" cy="2011680"/>
          </a:xfrm>
          <a:prstGeom prst="ellipse">
            <a:avLst/>
          </a:prstGeom>
          <a:solidFill>
            <a:srgbClr val="00A896">
              <a:alpha val="20000"/>
            </a:srgbClr>
          </a:solidFill>
          <a:ln w="12700">
            <a:solidFill>
              <a:srgbClr val="00A896">
                <a:alpha val="20000"/>
              </a:srgbClr>
            </a:solidFill>
            <a:prstDash val="solid"/>
          </a:ln>
        </p:spPr>
      </p:sp>
      <p:sp>
        <p:nvSpPr>
          <p:cNvPr id="5" name="Text 3"/>
          <p:cNvSpPr/>
          <p:nvPr/>
        </p:nvSpPr>
        <p:spPr>
          <a:xfrm>
            <a:off x="457200" y="640080"/>
            <a:ext cx="7772400" cy="109728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 Multimodal RAG Chatbot</a:t>
            </a:r>
            <a:endParaRPr lang="en-US" sz="4000" dirty="0"/>
          </a:p>
        </p:txBody>
      </p:sp>
      <p:sp>
        <p:nvSpPr>
          <p:cNvPr id="6" name="Text 4"/>
          <p:cNvSpPr/>
          <p:nvPr/>
        </p:nvSpPr>
        <p:spPr>
          <a:xfrm>
            <a:off x="457200" y="1691640"/>
            <a:ext cx="6858000" cy="640080"/>
          </a:xfrm>
          <a:prstGeom prst="rect">
            <a:avLst/>
          </a:prstGeom>
          <a:noFill/>
          <a:ln/>
        </p:spPr>
        <p:txBody>
          <a:bodyPr wrap="square" rtlCol="0" anchor="ctr"/>
          <a:lstStyle/>
          <a:p>
            <a:pPr algn="l" indent="0" marL="0">
              <a:buNone/>
            </a:pPr>
            <a:r>
              <a:rPr lang="en-US" sz="2400" i="1" dirty="0">
                <a:solidFill>
                  <a:srgbClr val="00A896"/>
                </a:solidFill>
                <a:latin typeface="Calibri" pitchFamily="34" charset="0"/>
                <a:ea typeface="Calibri" pitchFamily="34" charset="-122"/>
                <a:cs typeface="Calibri" pitchFamily="34" charset="-120"/>
              </a:rPr>
              <a:t>How It Works — Step by Step</a:t>
            </a:r>
            <a:endParaRPr lang="en-US" sz="2400" dirty="0"/>
          </a:p>
        </p:txBody>
      </p:sp>
      <p:sp>
        <p:nvSpPr>
          <p:cNvPr id="7" name="Text 5"/>
          <p:cNvSpPr/>
          <p:nvPr/>
        </p:nvSpPr>
        <p:spPr>
          <a:xfrm>
            <a:off x="457200" y="2331720"/>
            <a:ext cx="7772400" cy="457200"/>
          </a:xfrm>
          <a:prstGeom prst="rect">
            <a:avLst/>
          </a:prstGeom>
          <a:noFill/>
          <a:ln/>
        </p:spPr>
        <p:txBody>
          <a:bodyPr wrap="square" rtlCol="0" anchor="ctr"/>
          <a:lstStyle/>
          <a:p>
            <a:pPr algn="l" indent="0" marL="0">
              <a:buNone/>
            </a:pPr>
            <a:r>
              <a:rPr lang="en-US" sz="1500" dirty="0">
                <a:solidFill>
                  <a:srgbClr val="5D8EA6"/>
                </a:solidFill>
                <a:latin typeface="Calibri" pitchFamily="34" charset="0"/>
                <a:ea typeface="Calibri" pitchFamily="34" charset="-122"/>
                <a:cs typeface="Calibri" pitchFamily="34" charset="-120"/>
              </a:rPr>
              <a:t>Built with Ollama + Gradio | Runs 100% Locally | No Cloud Required</a:t>
            </a:r>
            <a:endParaRPr lang="en-US" sz="1500" dirty="0"/>
          </a:p>
        </p:txBody>
      </p:sp>
      <p:sp>
        <p:nvSpPr>
          <p:cNvPr id="8" name="Shape 6"/>
          <p:cNvSpPr/>
          <p:nvPr/>
        </p:nvSpPr>
        <p:spPr>
          <a:xfrm>
            <a:off x="457200" y="2880360"/>
            <a:ext cx="6858000" cy="36576"/>
          </a:xfrm>
          <a:prstGeom prst="rect">
            <a:avLst/>
          </a:prstGeom>
          <a:solidFill>
            <a:srgbClr val="00A896"/>
          </a:solidFill>
          <a:ln w="12700">
            <a:solidFill>
              <a:srgbClr val="00A896"/>
            </a:solidFill>
            <a:prstDash val="solid"/>
          </a:ln>
        </p:spPr>
      </p:sp>
      <p:sp>
        <p:nvSpPr>
          <p:cNvPr id="9" name="Shape 7"/>
          <p:cNvSpPr/>
          <p:nvPr/>
        </p:nvSpPr>
        <p:spPr>
          <a:xfrm>
            <a:off x="457200" y="3108960"/>
            <a:ext cx="1828800" cy="1463040"/>
          </a:xfrm>
          <a:prstGeom prst="rect">
            <a:avLst/>
          </a:prstGeom>
          <a:solidFill>
            <a:srgbClr val="1C7293">
              <a:alpha val="80000"/>
            </a:srgbClr>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0" name="Text 8"/>
          <p:cNvSpPr/>
          <p:nvPr/>
        </p:nvSpPr>
        <p:spPr>
          <a:xfrm>
            <a:off x="457200" y="3200400"/>
            <a:ext cx="1828800" cy="731520"/>
          </a:xfrm>
          <a:prstGeom prst="rect">
            <a:avLst/>
          </a:prstGeom>
          <a:noFill/>
          <a:ln/>
        </p:spPr>
        <p:txBody>
          <a:bodyPr wrap="square" rtlCol="0" anchor="ctr"/>
          <a:lstStyle/>
          <a:p>
            <a:pPr algn="ctr" indent="0" marL="0">
              <a:buNone/>
            </a:pPr>
            <a:r>
              <a:rPr lang="en-US" sz="4400" b="1" dirty="0">
                <a:solidFill>
                  <a:srgbClr val="F4D03F"/>
                </a:solidFill>
                <a:latin typeface="Calibri" pitchFamily="34" charset="0"/>
                <a:ea typeface="Calibri" pitchFamily="34" charset="-122"/>
                <a:cs typeface="Calibri" pitchFamily="34" charset="-120"/>
              </a:rPr>
              <a:t>5</a:t>
            </a:r>
            <a:endParaRPr lang="en-US" sz="4400" dirty="0"/>
          </a:p>
        </p:txBody>
      </p:sp>
      <p:sp>
        <p:nvSpPr>
          <p:cNvPr id="11" name="Text 9"/>
          <p:cNvSpPr/>
          <p:nvPr/>
        </p:nvSpPr>
        <p:spPr>
          <a:xfrm>
            <a:off x="457200" y="3840480"/>
            <a:ext cx="182880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AI Models</a:t>
            </a:r>
            <a:endParaRPr lang="en-US" sz="1300" dirty="0"/>
          </a:p>
        </p:txBody>
      </p:sp>
      <p:sp>
        <p:nvSpPr>
          <p:cNvPr id="12" name="Shape 10"/>
          <p:cNvSpPr/>
          <p:nvPr/>
        </p:nvSpPr>
        <p:spPr>
          <a:xfrm>
            <a:off x="2560320" y="3108960"/>
            <a:ext cx="1828800" cy="1463040"/>
          </a:xfrm>
          <a:prstGeom prst="rect">
            <a:avLst/>
          </a:prstGeom>
          <a:solidFill>
            <a:srgbClr val="1C7293">
              <a:alpha val="80000"/>
            </a:srgbClr>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3" name="Text 11"/>
          <p:cNvSpPr/>
          <p:nvPr/>
        </p:nvSpPr>
        <p:spPr>
          <a:xfrm>
            <a:off x="2560320" y="3200400"/>
            <a:ext cx="1828800" cy="731520"/>
          </a:xfrm>
          <a:prstGeom prst="rect">
            <a:avLst/>
          </a:prstGeom>
          <a:noFill/>
          <a:ln/>
        </p:spPr>
        <p:txBody>
          <a:bodyPr wrap="square" rtlCol="0" anchor="ctr"/>
          <a:lstStyle/>
          <a:p>
            <a:pPr algn="ctr" indent="0" marL="0">
              <a:buNone/>
            </a:pPr>
            <a:r>
              <a:rPr lang="en-US" sz="4400" b="1" dirty="0">
                <a:solidFill>
                  <a:srgbClr val="F4D03F"/>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2560320" y="3840480"/>
            <a:ext cx="182880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Modalities</a:t>
            </a:r>
            <a:endParaRPr lang="en-US" sz="1300" dirty="0"/>
          </a:p>
        </p:txBody>
      </p:sp>
      <p:sp>
        <p:nvSpPr>
          <p:cNvPr id="15" name="Shape 13"/>
          <p:cNvSpPr/>
          <p:nvPr/>
        </p:nvSpPr>
        <p:spPr>
          <a:xfrm>
            <a:off x="4663440" y="3108960"/>
            <a:ext cx="1828800" cy="1463040"/>
          </a:xfrm>
          <a:prstGeom prst="rect">
            <a:avLst/>
          </a:prstGeom>
          <a:solidFill>
            <a:srgbClr val="1C7293">
              <a:alpha val="80000"/>
            </a:srgbClr>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6" name="Text 14"/>
          <p:cNvSpPr/>
          <p:nvPr/>
        </p:nvSpPr>
        <p:spPr>
          <a:xfrm>
            <a:off x="4663440" y="3200400"/>
            <a:ext cx="1828800" cy="731520"/>
          </a:xfrm>
          <a:prstGeom prst="rect">
            <a:avLst/>
          </a:prstGeom>
          <a:noFill/>
          <a:ln/>
        </p:spPr>
        <p:txBody>
          <a:bodyPr wrap="square" rtlCol="0" anchor="ctr"/>
          <a:lstStyle/>
          <a:p>
            <a:pPr algn="ctr" indent="0" marL="0">
              <a:buNone/>
            </a:pPr>
            <a:r>
              <a:rPr lang="en-US" sz="4400" b="1" dirty="0">
                <a:solidFill>
                  <a:srgbClr val="F4D03F"/>
                </a:solidFill>
                <a:latin typeface="Calibri" pitchFamily="34" charset="0"/>
                <a:ea typeface="Calibri" pitchFamily="34" charset="-122"/>
                <a:cs typeface="Calibri" pitchFamily="34" charset="-120"/>
              </a:rPr>
              <a:t>9</a:t>
            </a:r>
            <a:endParaRPr lang="en-US" sz="4400" dirty="0"/>
          </a:p>
        </p:txBody>
      </p:sp>
      <p:sp>
        <p:nvSpPr>
          <p:cNvPr id="17" name="Text 15"/>
          <p:cNvSpPr/>
          <p:nvPr/>
        </p:nvSpPr>
        <p:spPr>
          <a:xfrm>
            <a:off x="4663440" y="3840480"/>
            <a:ext cx="182880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Pipeline Steps</a:t>
            </a:r>
            <a:endParaRPr lang="en-US" sz="1300" dirty="0"/>
          </a:p>
        </p:txBody>
      </p:sp>
      <p:sp>
        <p:nvSpPr>
          <p:cNvPr id="18" name="Shape 16"/>
          <p:cNvSpPr/>
          <p:nvPr/>
        </p:nvSpPr>
        <p:spPr>
          <a:xfrm>
            <a:off x="6766560" y="3108960"/>
            <a:ext cx="1828800" cy="1463040"/>
          </a:xfrm>
          <a:prstGeom prst="rect">
            <a:avLst/>
          </a:prstGeom>
          <a:solidFill>
            <a:srgbClr val="1C7293">
              <a:alpha val="80000"/>
            </a:srgbClr>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9" name="Text 17"/>
          <p:cNvSpPr/>
          <p:nvPr/>
        </p:nvSpPr>
        <p:spPr>
          <a:xfrm>
            <a:off x="6766560" y="3200400"/>
            <a:ext cx="1828800" cy="731520"/>
          </a:xfrm>
          <a:prstGeom prst="rect">
            <a:avLst/>
          </a:prstGeom>
          <a:noFill/>
          <a:ln/>
        </p:spPr>
        <p:txBody>
          <a:bodyPr wrap="square" rtlCol="0" anchor="ctr"/>
          <a:lstStyle/>
          <a:p>
            <a:pPr algn="ctr" indent="0" marL="0">
              <a:buNone/>
            </a:pPr>
            <a:r>
              <a:rPr lang="en-US" sz="4400" b="1" dirty="0">
                <a:solidFill>
                  <a:srgbClr val="F4D03F"/>
                </a:solidFill>
                <a:latin typeface="Calibri" pitchFamily="34" charset="0"/>
                <a:ea typeface="Calibri" pitchFamily="34" charset="-122"/>
                <a:cs typeface="Calibri" pitchFamily="34" charset="-120"/>
              </a:rPr>
              <a:t>0</a:t>
            </a:r>
            <a:endParaRPr lang="en-US" sz="4400" dirty="0"/>
          </a:p>
        </p:txBody>
      </p:sp>
      <p:sp>
        <p:nvSpPr>
          <p:cNvPr id="20" name="Text 18"/>
          <p:cNvSpPr/>
          <p:nvPr/>
        </p:nvSpPr>
        <p:spPr>
          <a:xfrm>
            <a:off x="6766560" y="3840480"/>
            <a:ext cx="182880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Cloud APIs</a:t>
            </a:r>
            <a:endParaRPr lang="en-US" sz="1300" dirty="0"/>
          </a:p>
        </p:txBody>
      </p:sp>
      <p:sp>
        <p:nvSpPr>
          <p:cNvPr id="21" name="Text 19"/>
          <p:cNvSpPr/>
          <p:nvPr/>
        </p:nvSpPr>
        <p:spPr>
          <a:xfrm>
            <a:off x="457200" y="4754880"/>
            <a:ext cx="8229600" cy="274320"/>
          </a:xfrm>
          <a:prstGeom prst="rect">
            <a:avLst/>
          </a:prstGeom>
          <a:noFill/>
          <a:ln/>
        </p:spPr>
        <p:txBody>
          <a:bodyPr wrap="square" rtlCol="0" anchor="ctr"/>
          <a:lstStyle/>
          <a:p>
            <a:pPr algn="l" indent="0" marL="0">
              <a:buNone/>
            </a:pPr>
            <a:r>
              <a:rPr lang="en-US" sz="1100" dirty="0">
                <a:solidFill>
                  <a:srgbClr val="5D8EA6"/>
                </a:solidFill>
                <a:latin typeface="Calibri" pitchFamily="34" charset="0"/>
                <a:ea typeface="Calibri" pitchFamily="34" charset="-122"/>
                <a:cs typeface="Calibri" pitchFamily="34" charset="-120"/>
              </a:rPr>
              <a:t>PDF • PPTX • DOCX → Extract → Embed → Search → Answer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RAG?</a:t>
            </a:r>
            <a:endParaRPr lang="en-US" sz="2600" dirty="0"/>
          </a:p>
        </p:txBody>
      </p:sp>
      <p:sp>
        <p:nvSpPr>
          <p:cNvPr id="4" name="Text 2"/>
          <p:cNvSpPr/>
          <p:nvPr/>
        </p:nvSpPr>
        <p:spPr>
          <a:xfrm>
            <a:off x="365760" y="822960"/>
            <a:ext cx="8412480" cy="457200"/>
          </a:xfrm>
          <a:prstGeom prst="rect">
            <a:avLst/>
          </a:prstGeom>
          <a:noFill/>
          <a:ln/>
        </p:spPr>
        <p:txBody>
          <a:bodyPr wrap="square" rtlCol="0" anchor="ctr"/>
          <a:lstStyle/>
          <a:p>
            <a:pPr indent="0" marL="0">
              <a:buNone/>
            </a:pPr>
            <a:r>
              <a:rPr lang="en-US" sz="2000" b="1" dirty="0">
                <a:solidFill>
                  <a:srgbClr val="065A82"/>
                </a:solidFill>
                <a:latin typeface="Calibri" pitchFamily="34" charset="0"/>
                <a:ea typeface="Calibri" pitchFamily="34" charset="-122"/>
                <a:cs typeface="Calibri" pitchFamily="34" charset="-120"/>
              </a:rPr>
              <a:t>RAG = Retrieval-Augmented Generation</a:t>
            </a:r>
            <a:endParaRPr lang="en-US" sz="2000" dirty="0"/>
          </a:p>
        </p:txBody>
      </p:sp>
      <p:sp>
        <p:nvSpPr>
          <p:cNvPr id="5" name="Text 3"/>
          <p:cNvSpPr/>
          <p:nvPr/>
        </p:nvSpPr>
        <p:spPr>
          <a:xfrm>
            <a:off x="365760" y="1280160"/>
            <a:ext cx="8412480" cy="731520"/>
          </a:xfrm>
          <a:prstGeom prst="rect">
            <a:avLst/>
          </a:prstGeom>
          <a:noFill/>
          <a:ln/>
        </p:spPr>
        <p:txBody>
          <a:bodyPr wrap="square" rtlCol="0" anchor="ctr"/>
          <a:lstStyle/>
          <a:p>
            <a:pPr indent="0" marL="0">
              <a:buNone/>
            </a:pPr>
            <a:r>
              <a:rPr lang="en-US" sz="1400" dirty="0">
                <a:solidFill>
                  <a:srgbClr val="1A3040"/>
                </a:solidFill>
                <a:latin typeface="Calibri" pitchFamily="34" charset="0"/>
                <a:ea typeface="Calibri" pitchFamily="34" charset="-122"/>
                <a:cs typeface="Calibri" pitchFamily="34" charset="-120"/>
              </a:rPr>
              <a:t>Instead of relying on what the LLM memorised during training, RAG first SEARCHES your documents for relevant content, then passes that content to the LLM to generate an accurate, grounded answer.</a:t>
            </a:r>
            <a:endParaRPr lang="en-US" sz="1400" dirty="0"/>
          </a:p>
        </p:txBody>
      </p:sp>
      <p:sp>
        <p:nvSpPr>
          <p:cNvPr id="6" name="Shape 4"/>
          <p:cNvSpPr/>
          <p:nvPr/>
        </p:nvSpPr>
        <p:spPr>
          <a:xfrm>
            <a:off x="365760" y="2194560"/>
            <a:ext cx="2560320" cy="210312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365760" y="2194560"/>
            <a:ext cx="2560320" cy="502920"/>
          </a:xfrm>
          <a:prstGeom prst="rect">
            <a:avLst/>
          </a:prstGeom>
          <a:solidFill>
            <a:srgbClr val="065A82"/>
          </a:solidFill>
          <a:ln w="12700">
            <a:solidFill>
              <a:srgbClr val="065A82"/>
            </a:solidFill>
            <a:prstDash val="solid"/>
          </a:ln>
        </p:spPr>
      </p:sp>
      <p:sp>
        <p:nvSpPr>
          <p:cNvPr id="8" name="Text 6"/>
          <p:cNvSpPr/>
          <p:nvPr/>
        </p:nvSpPr>
        <p:spPr>
          <a:xfrm>
            <a:off x="365760" y="22128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Your Documents</a:t>
            </a:r>
            <a:endParaRPr lang="en-US" sz="1400" dirty="0"/>
          </a:p>
        </p:txBody>
      </p:sp>
      <p:sp>
        <p:nvSpPr>
          <p:cNvPr id="9" name="Text 7"/>
          <p:cNvSpPr/>
          <p:nvPr/>
        </p:nvSpPr>
        <p:spPr>
          <a:xfrm>
            <a:off x="365760" y="2788920"/>
            <a:ext cx="2560320" cy="1371600"/>
          </a:xfrm>
          <a:prstGeom prst="rect">
            <a:avLst/>
          </a:prstGeom>
          <a:noFill/>
          <a:ln/>
        </p:spPr>
        <p:txBody>
          <a:bodyPr wrap="square" rtlCol="0" anchor="ctr"/>
          <a:lstStyle/>
          <a:p>
            <a:pPr algn="ctr" indent="0" marL="0">
              <a:buNone/>
            </a:pPr>
            <a:r>
              <a:rPr lang="en-US" sz="1300" dirty="0">
                <a:solidFill>
                  <a:srgbClr val="1A3040"/>
                </a:solidFill>
                <a:latin typeface="Calibri" pitchFamily="34" charset="0"/>
                <a:ea typeface="Calibri" pitchFamily="34" charset="-122"/>
                <a:cs typeface="Calibri" pitchFamily="34" charset="-120"/>
              </a:rPr>
              <a:t>PDF, PPTX, DOCX</a:t>
            </a:r>
            <a:endParaRPr lang="en-US" sz="1300" dirty="0"/>
          </a:p>
          <a:p>
            <a:pPr algn="ctr" indent="0" marL="0">
              <a:buNone/>
            </a:pPr>
            <a:r>
              <a:rPr lang="en-US" sz="1300" dirty="0">
                <a:solidFill>
                  <a:srgbClr val="1A3040"/>
                </a:solidFill>
                <a:latin typeface="Calibri" pitchFamily="34" charset="0"/>
                <a:ea typeface="Calibri" pitchFamily="34" charset="-122"/>
                <a:cs typeface="Calibri" pitchFamily="34" charset="-120"/>
              </a:rPr>
              <a:t>Text + Images + Tables</a:t>
            </a:r>
            <a:endParaRPr lang="en-US" sz="1300" dirty="0"/>
          </a:p>
        </p:txBody>
      </p:sp>
      <p:sp>
        <p:nvSpPr>
          <p:cNvPr id="10" name="Text 8"/>
          <p:cNvSpPr/>
          <p:nvPr/>
        </p:nvSpPr>
        <p:spPr>
          <a:xfrm>
            <a:off x="2971800" y="2926080"/>
            <a:ext cx="274320" cy="45720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200400" y="2194560"/>
            <a:ext cx="2560320" cy="210312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12" name="Shape 10"/>
          <p:cNvSpPr/>
          <p:nvPr/>
        </p:nvSpPr>
        <p:spPr>
          <a:xfrm>
            <a:off x="3200400" y="2194560"/>
            <a:ext cx="2560320" cy="502920"/>
          </a:xfrm>
          <a:prstGeom prst="rect">
            <a:avLst/>
          </a:prstGeom>
          <a:solidFill>
            <a:srgbClr val="065A82"/>
          </a:solidFill>
          <a:ln w="12700">
            <a:solidFill>
              <a:srgbClr val="065A82"/>
            </a:solidFill>
            <a:prstDash val="solid"/>
          </a:ln>
        </p:spPr>
      </p:sp>
      <p:sp>
        <p:nvSpPr>
          <p:cNvPr id="13" name="Text 11"/>
          <p:cNvSpPr/>
          <p:nvPr/>
        </p:nvSpPr>
        <p:spPr>
          <a:xfrm>
            <a:off x="3200400" y="22128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Retrieval</a:t>
            </a:r>
            <a:endParaRPr lang="en-US" sz="1400" dirty="0"/>
          </a:p>
        </p:txBody>
      </p:sp>
      <p:sp>
        <p:nvSpPr>
          <p:cNvPr id="14" name="Text 12"/>
          <p:cNvSpPr/>
          <p:nvPr/>
        </p:nvSpPr>
        <p:spPr>
          <a:xfrm>
            <a:off x="3200400" y="2788920"/>
            <a:ext cx="2560320" cy="1371600"/>
          </a:xfrm>
          <a:prstGeom prst="rect">
            <a:avLst/>
          </a:prstGeom>
          <a:noFill/>
          <a:ln/>
        </p:spPr>
        <p:txBody>
          <a:bodyPr wrap="square" rtlCol="0" anchor="ctr"/>
          <a:lstStyle/>
          <a:p>
            <a:pPr algn="ctr" indent="0" marL="0">
              <a:buNone/>
            </a:pPr>
            <a:r>
              <a:rPr lang="en-US" sz="1300" dirty="0">
                <a:solidFill>
                  <a:srgbClr val="1A3040"/>
                </a:solidFill>
                <a:latin typeface="Calibri" pitchFamily="34" charset="0"/>
                <a:ea typeface="Calibri" pitchFamily="34" charset="-122"/>
                <a:cs typeface="Calibri" pitchFamily="34" charset="-120"/>
              </a:rPr>
              <a:t>Find the most relevant</a:t>
            </a:r>
            <a:endParaRPr lang="en-US" sz="1300" dirty="0"/>
          </a:p>
          <a:p>
            <a:pPr algn="ctr" indent="0" marL="0">
              <a:buNone/>
            </a:pPr>
            <a:r>
              <a:rPr lang="en-US" sz="1300" dirty="0">
                <a:solidFill>
                  <a:srgbClr val="1A3040"/>
                </a:solidFill>
                <a:latin typeface="Calibri" pitchFamily="34" charset="0"/>
                <a:ea typeface="Calibri" pitchFamily="34" charset="-122"/>
                <a:cs typeface="Calibri" pitchFamily="34" charset="-120"/>
              </a:rPr>
              <a:t>chunks using AI search</a:t>
            </a:r>
            <a:endParaRPr lang="en-US" sz="1300" dirty="0"/>
          </a:p>
        </p:txBody>
      </p:sp>
      <p:sp>
        <p:nvSpPr>
          <p:cNvPr id="15" name="Text 13"/>
          <p:cNvSpPr/>
          <p:nvPr/>
        </p:nvSpPr>
        <p:spPr>
          <a:xfrm>
            <a:off x="5806440" y="2926080"/>
            <a:ext cx="274320" cy="45720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035040" y="2194560"/>
            <a:ext cx="2560320" cy="210312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17" name="Shape 15"/>
          <p:cNvSpPr/>
          <p:nvPr/>
        </p:nvSpPr>
        <p:spPr>
          <a:xfrm>
            <a:off x="6035040" y="2194560"/>
            <a:ext cx="2560320" cy="502920"/>
          </a:xfrm>
          <a:prstGeom prst="rect">
            <a:avLst/>
          </a:prstGeom>
          <a:solidFill>
            <a:srgbClr val="065A82"/>
          </a:solidFill>
          <a:ln w="12700">
            <a:solidFill>
              <a:srgbClr val="065A82"/>
            </a:solidFill>
            <a:prstDash val="solid"/>
          </a:ln>
        </p:spPr>
      </p:sp>
      <p:sp>
        <p:nvSpPr>
          <p:cNvPr id="18" name="Text 16"/>
          <p:cNvSpPr/>
          <p:nvPr/>
        </p:nvSpPr>
        <p:spPr>
          <a:xfrm>
            <a:off x="6035040" y="22128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Generation</a:t>
            </a:r>
            <a:endParaRPr lang="en-US" sz="1400" dirty="0"/>
          </a:p>
        </p:txBody>
      </p:sp>
      <p:sp>
        <p:nvSpPr>
          <p:cNvPr id="19" name="Text 17"/>
          <p:cNvSpPr/>
          <p:nvPr/>
        </p:nvSpPr>
        <p:spPr>
          <a:xfrm>
            <a:off x="6035040" y="2788920"/>
            <a:ext cx="2560320" cy="1371600"/>
          </a:xfrm>
          <a:prstGeom prst="rect">
            <a:avLst/>
          </a:prstGeom>
          <a:noFill/>
          <a:ln/>
        </p:spPr>
        <p:txBody>
          <a:bodyPr wrap="square" rtlCol="0" anchor="ctr"/>
          <a:lstStyle/>
          <a:p>
            <a:pPr algn="ctr" indent="0" marL="0">
              <a:buNone/>
            </a:pPr>
            <a:r>
              <a:rPr lang="en-US" sz="1300" dirty="0">
                <a:solidFill>
                  <a:srgbClr val="1A3040"/>
                </a:solidFill>
                <a:latin typeface="Calibri" pitchFamily="34" charset="0"/>
                <a:ea typeface="Calibri" pitchFamily="34" charset="-122"/>
                <a:cs typeface="Calibri" pitchFamily="34" charset="-120"/>
              </a:rPr>
              <a:t>LLM answers ONLY</a:t>
            </a:r>
            <a:endParaRPr lang="en-US" sz="1300" dirty="0"/>
          </a:p>
          <a:p>
            <a:pPr algn="ctr" indent="0" marL="0">
              <a:buNone/>
            </a:pPr>
            <a:r>
              <a:rPr lang="en-US" sz="1300" dirty="0">
                <a:solidFill>
                  <a:srgbClr val="1A3040"/>
                </a:solidFill>
                <a:latin typeface="Calibri" pitchFamily="34" charset="0"/>
                <a:ea typeface="Calibri" pitchFamily="34" charset="-122"/>
                <a:cs typeface="Calibri" pitchFamily="34" charset="-120"/>
              </a:rPr>
              <a:t>from retrieved context</a:t>
            </a:r>
            <a:endParaRPr lang="en-US" sz="1300" dirty="0"/>
          </a:p>
        </p:txBody>
      </p:sp>
      <p:sp>
        <p:nvSpPr>
          <p:cNvPr id="20" name="Shape 18"/>
          <p:cNvSpPr/>
          <p:nvPr/>
        </p:nvSpPr>
        <p:spPr>
          <a:xfrm>
            <a:off x="365760" y="4480560"/>
            <a:ext cx="8412480" cy="502920"/>
          </a:xfrm>
          <a:prstGeom prst="rect">
            <a:avLst/>
          </a:prstGeom>
          <a:solidFill>
            <a:srgbClr val="00A896">
              <a:alpha val="85000"/>
            </a:srgbClr>
          </a:solidFill>
          <a:ln w="12700">
            <a:solidFill>
              <a:srgbClr val="00A896"/>
            </a:solidFill>
            <a:prstDash val="solid"/>
          </a:ln>
        </p:spPr>
      </p:sp>
      <p:sp>
        <p:nvSpPr>
          <p:cNvPr id="21" name="Text 19"/>
          <p:cNvSpPr/>
          <p:nvPr/>
        </p:nvSpPr>
        <p:spPr>
          <a:xfrm>
            <a:off x="457200" y="4526280"/>
            <a:ext cx="8229600" cy="38404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Answers are grounded in YOUR documents — not hallucinated from training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Architecture — 9-Step Pipeline</a:t>
            </a:r>
            <a:endParaRPr lang="en-US" sz="2600" dirty="0"/>
          </a:p>
        </p:txBody>
      </p:sp>
      <p:sp>
        <p:nvSpPr>
          <p:cNvPr id="4" name="Shape 2"/>
          <p:cNvSpPr/>
          <p:nvPr/>
        </p:nvSpPr>
        <p:spPr>
          <a:xfrm>
            <a:off x="274320" y="868680"/>
            <a:ext cx="1508760" cy="1554480"/>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3000"/>
              </a:srgbClr>
            </a:outerShdw>
          </a:effectLst>
        </p:spPr>
      </p:sp>
      <p:sp>
        <p:nvSpPr>
          <p:cNvPr id="5" name="Text 3"/>
          <p:cNvSpPr/>
          <p:nvPr/>
        </p:nvSpPr>
        <p:spPr>
          <a:xfrm>
            <a:off x="274320" y="91440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274320" y="118872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274320" y="173736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Install Deps</a:t>
            </a:r>
            <a:endParaRPr lang="en-US" sz="1200" dirty="0"/>
          </a:p>
        </p:txBody>
      </p:sp>
      <p:sp>
        <p:nvSpPr>
          <p:cNvPr id="8" name="Shape 6"/>
          <p:cNvSpPr/>
          <p:nvPr/>
        </p:nvSpPr>
        <p:spPr>
          <a:xfrm>
            <a:off x="1993392" y="868680"/>
            <a:ext cx="1508760" cy="1554480"/>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3000"/>
              </a:srgbClr>
            </a:outerShdw>
          </a:effectLst>
        </p:spPr>
      </p:sp>
      <p:sp>
        <p:nvSpPr>
          <p:cNvPr id="9" name="Text 7"/>
          <p:cNvSpPr/>
          <p:nvPr/>
        </p:nvSpPr>
        <p:spPr>
          <a:xfrm>
            <a:off x="1993392" y="91440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993392" y="118872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1" name="Text 9"/>
          <p:cNvSpPr/>
          <p:nvPr/>
        </p:nvSpPr>
        <p:spPr>
          <a:xfrm>
            <a:off x="1993392" y="173736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Load Models</a:t>
            </a:r>
            <a:endParaRPr lang="en-US" sz="1200" dirty="0"/>
          </a:p>
        </p:txBody>
      </p:sp>
      <p:sp>
        <p:nvSpPr>
          <p:cNvPr id="12" name="Shape 10"/>
          <p:cNvSpPr/>
          <p:nvPr/>
        </p:nvSpPr>
        <p:spPr>
          <a:xfrm>
            <a:off x="3712464" y="868680"/>
            <a:ext cx="1508760" cy="1554480"/>
          </a:xfrm>
          <a:prstGeom prst="rect">
            <a:avLst/>
          </a:prstGeom>
          <a:solidFill>
            <a:srgbClr val="1A5276"/>
          </a:solidFill>
          <a:ln w="12700">
            <a:solidFill>
              <a:srgbClr val="1A5276"/>
            </a:solidFill>
            <a:prstDash val="solid"/>
          </a:ln>
          <a:effectLst>
            <a:outerShdw sx="100000" sy="100000" kx="0" ky="0" algn="bl" rotWithShape="0" blurRad="101600" dist="38100" dir="8100000">
              <a:srgbClr val="000000">
                <a:alpha val="13000"/>
              </a:srgbClr>
            </a:outerShdw>
          </a:effectLst>
        </p:spPr>
      </p:sp>
      <p:sp>
        <p:nvSpPr>
          <p:cNvPr id="13" name="Text 11"/>
          <p:cNvSpPr/>
          <p:nvPr/>
        </p:nvSpPr>
        <p:spPr>
          <a:xfrm>
            <a:off x="3712464" y="91440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3712464" y="118872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3712464" y="173736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Files</a:t>
            </a:r>
            <a:endParaRPr lang="en-US" sz="1200" dirty="0"/>
          </a:p>
        </p:txBody>
      </p:sp>
      <p:sp>
        <p:nvSpPr>
          <p:cNvPr id="16" name="Shape 14"/>
          <p:cNvSpPr/>
          <p:nvPr/>
        </p:nvSpPr>
        <p:spPr>
          <a:xfrm>
            <a:off x="5431536" y="868680"/>
            <a:ext cx="1508760" cy="1554480"/>
          </a:xfrm>
          <a:prstGeom prst="rect">
            <a:avLst/>
          </a:prstGeom>
          <a:solidFill>
            <a:srgbClr val="1C7293"/>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5431536" y="91440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5431536" y="118872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9" name="Text 17"/>
          <p:cNvSpPr/>
          <p:nvPr/>
        </p:nvSpPr>
        <p:spPr>
          <a:xfrm>
            <a:off x="5431536" y="173736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Extract</a:t>
            </a:r>
            <a:endParaRPr lang="en-US" sz="1200" dirty="0"/>
          </a:p>
        </p:txBody>
      </p:sp>
      <p:sp>
        <p:nvSpPr>
          <p:cNvPr id="20" name="Shape 18"/>
          <p:cNvSpPr/>
          <p:nvPr/>
        </p:nvSpPr>
        <p:spPr>
          <a:xfrm>
            <a:off x="7150608" y="868680"/>
            <a:ext cx="1508760" cy="1554480"/>
          </a:xfrm>
          <a:prstGeom prst="rect">
            <a:avLst/>
          </a:prstGeom>
          <a:solidFill>
            <a:srgbClr val="1C7293"/>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21" name="Text 19"/>
          <p:cNvSpPr/>
          <p:nvPr/>
        </p:nvSpPr>
        <p:spPr>
          <a:xfrm>
            <a:off x="7150608" y="91440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7150608" y="118872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3" name="Text 21"/>
          <p:cNvSpPr/>
          <p:nvPr/>
        </p:nvSpPr>
        <p:spPr>
          <a:xfrm>
            <a:off x="7150608" y="173736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Chunk</a:t>
            </a:r>
            <a:endParaRPr lang="en-US" sz="1200" dirty="0"/>
          </a:p>
        </p:txBody>
      </p:sp>
      <p:sp>
        <p:nvSpPr>
          <p:cNvPr id="24" name="Shape 22"/>
          <p:cNvSpPr/>
          <p:nvPr/>
        </p:nvSpPr>
        <p:spPr>
          <a:xfrm>
            <a:off x="274320" y="2880360"/>
            <a:ext cx="1508760" cy="1554480"/>
          </a:xfrm>
          <a:prstGeom prst="rect">
            <a:avLst/>
          </a:prstGeom>
          <a:solidFill>
            <a:srgbClr val="1C7293"/>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25" name="Text 23"/>
          <p:cNvSpPr/>
          <p:nvPr/>
        </p:nvSpPr>
        <p:spPr>
          <a:xfrm>
            <a:off x="274320" y="292608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4"/>
          <p:cNvSpPr/>
          <p:nvPr/>
        </p:nvSpPr>
        <p:spPr>
          <a:xfrm>
            <a:off x="274320" y="320040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7" name="Text 25"/>
          <p:cNvSpPr/>
          <p:nvPr/>
        </p:nvSpPr>
        <p:spPr>
          <a:xfrm>
            <a:off x="274320" y="374904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Index</a:t>
            </a:r>
            <a:endParaRPr lang="en-US" sz="1200" dirty="0"/>
          </a:p>
        </p:txBody>
      </p:sp>
      <p:sp>
        <p:nvSpPr>
          <p:cNvPr id="28" name="Shape 26"/>
          <p:cNvSpPr/>
          <p:nvPr/>
        </p:nvSpPr>
        <p:spPr>
          <a:xfrm>
            <a:off x="1993392" y="2880360"/>
            <a:ext cx="1508760" cy="1554480"/>
          </a:xfrm>
          <a:prstGeom prst="rect">
            <a:avLst/>
          </a:prstGeom>
          <a:solidFill>
            <a:srgbClr val="00A896"/>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29" name="Text 27"/>
          <p:cNvSpPr/>
          <p:nvPr/>
        </p:nvSpPr>
        <p:spPr>
          <a:xfrm>
            <a:off x="1993392" y="292608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0" name="Text 28"/>
          <p:cNvSpPr/>
          <p:nvPr/>
        </p:nvSpPr>
        <p:spPr>
          <a:xfrm>
            <a:off x="1993392" y="320040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31" name="Text 29"/>
          <p:cNvSpPr/>
          <p:nvPr/>
        </p:nvSpPr>
        <p:spPr>
          <a:xfrm>
            <a:off x="1993392" y="374904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Generate</a:t>
            </a:r>
            <a:endParaRPr lang="en-US" sz="1200" dirty="0"/>
          </a:p>
        </p:txBody>
      </p:sp>
      <p:sp>
        <p:nvSpPr>
          <p:cNvPr id="32" name="Shape 30"/>
          <p:cNvSpPr/>
          <p:nvPr/>
        </p:nvSpPr>
        <p:spPr>
          <a:xfrm>
            <a:off x="3712464" y="2880360"/>
            <a:ext cx="1508760" cy="1554480"/>
          </a:xfrm>
          <a:prstGeom prst="rect">
            <a:avLst/>
          </a:prstGeom>
          <a:solidFill>
            <a:srgbClr val="00A896"/>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33" name="Text 31"/>
          <p:cNvSpPr/>
          <p:nvPr/>
        </p:nvSpPr>
        <p:spPr>
          <a:xfrm>
            <a:off x="3712464" y="292608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4" name="Text 32"/>
          <p:cNvSpPr/>
          <p:nvPr/>
        </p:nvSpPr>
        <p:spPr>
          <a:xfrm>
            <a:off x="3712464" y="320040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35" name="Text 33"/>
          <p:cNvSpPr/>
          <p:nvPr/>
        </p:nvSpPr>
        <p:spPr>
          <a:xfrm>
            <a:off x="3712464" y="374904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Query</a:t>
            </a:r>
            <a:endParaRPr lang="en-US" sz="1200" dirty="0"/>
          </a:p>
        </p:txBody>
      </p:sp>
      <p:sp>
        <p:nvSpPr>
          <p:cNvPr id="36" name="Shape 34"/>
          <p:cNvSpPr/>
          <p:nvPr/>
        </p:nvSpPr>
        <p:spPr>
          <a:xfrm>
            <a:off x="5431536" y="2880360"/>
            <a:ext cx="1508760" cy="1554480"/>
          </a:xfrm>
          <a:prstGeom prst="rect">
            <a:avLst/>
          </a:prstGeom>
          <a:solidFill>
            <a:srgbClr val="00A896"/>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37" name="Text 35"/>
          <p:cNvSpPr/>
          <p:nvPr/>
        </p:nvSpPr>
        <p:spPr>
          <a:xfrm>
            <a:off x="5431536" y="2926080"/>
            <a:ext cx="150876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8" name="Text 36"/>
          <p:cNvSpPr/>
          <p:nvPr/>
        </p:nvSpPr>
        <p:spPr>
          <a:xfrm>
            <a:off x="5431536" y="3200400"/>
            <a:ext cx="150876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39" name="Text 37"/>
          <p:cNvSpPr/>
          <p:nvPr/>
        </p:nvSpPr>
        <p:spPr>
          <a:xfrm>
            <a:off x="5431536" y="3749040"/>
            <a:ext cx="150876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UI</a:t>
            </a:r>
            <a:endParaRPr lang="en-US" sz="1200" dirty="0"/>
          </a:p>
        </p:txBody>
      </p:sp>
      <p:sp>
        <p:nvSpPr>
          <p:cNvPr id="40" name="Shape 38"/>
          <p:cNvSpPr/>
          <p:nvPr/>
        </p:nvSpPr>
        <p:spPr>
          <a:xfrm>
            <a:off x="274320" y="4663440"/>
            <a:ext cx="228600" cy="228600"/>
          </a:xfrm>
          <a:prstGeom prst="rect">
            <a:avLst/>
          </a:prstGeom>
          <a:solidFill>
            <a:srgbClr val="1A5276"/>
          </a:solidFill>
          <a:ln w="12700">
            <a:solidFill>
              <a:srgbClr val="1A5276"/>
            </a:solidFill>
            <a:prstDash val="solid"/>
          </a:ln>
        </p:spPr>
      </p:sp>
      <p:sp>
        <p:nvSpPr>
          <p:cNvPr id="41" name="Text 39"/>
          <p:cNvSpPr/>
          <p:nvPr/>
        </p:nvSpPr>
        <p:spPr>
          <a:xfrm>
            <a:off x="594360" y="4663440"/>
            <a:ext cx="1371600" cy="22860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Setup</a:t>
            </a:r>
            <a:endParaRPr lang="en-US" sz="1100" dirty="0"/>
          </a:p>
        </p:txBody>
      </p:sp>
      <p:sp>
        <p:nvSpPr>
          <p:cNvPr id="42" name="Shape 40"/>
          <p:cNvSpPr/>
          <p:nvPr/>
        </p:nvSpPr>
        <p:spPr>
          <a:xfrm>
            <a:off x="2011680" y="4663440"/>
            <a:ext cx="228600" cy="228600"/>
          </a:xfrm>
          <a:prstGeom prst="rect">
            <a:avLst/>
          </a:prstGeom>
          <a:solidFill>
            <a:srgbClr val="1C7293"/>
          </a:solidFill>
          <a:ln w="12700">
            <a:solidFill>
              <a:srgbClr val="1C7293"/>
            </a:solidFill>
            <a:prstDash val="solid"/>
          </a:ln>
        </p:spPr>
      </p:sp>
      <p:sp>
        <p:nvSpPr>
          <p:cNvPr id="43" name="Text 41"/>
          <p:cNvSpPr/>
          <p:nvPr/>
        </p:nvSpPr>
        <p:spPr>
          <a:xfrm>
            <a:off x="2331720" y="4663440"/>
            <a:ext cx="1828800" cy="22860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Data Processing</a:t>
            </a:r>
            <a:endParaRPr lang="en-US" sz="1100" dirty="0"/>
          </a:p>
        </p:txBody>
      </p:sp>
      <p:sp>
        <p:nvSpPr>
          <p:cNvPr id="44" name="Shape 42"/>
          <p:cNvSpPr/>
          <p:nvPr/>
        </p:nvSpPr>
        <p:spPr>
          <a:xfrm>
            <a:off x="4389120" y="4663440"/>
            <a:ext cx="228600" cy="228600"/>
          </a:xfrm>
          <a:prstGeom prst="rect">
            <a:avLst/>
          </a:prstGeom>
          <a:solidFill>
            <a:srgbClr val="00A896"/>
          </a:solidFill>
          <a:ln w="12700">
            <a:solidFill>
              <a:srgbClr val="00A896"/>
            </a:solidFill>
            <a:prstDash val="solid"/>
          </a:ln>
        </p:spPr>
      </p:sp>
      <p:sp>
        <p:nvSpPr>
          <p:cNvPr id="45" name="Text 43"/>
          <p:cNvSpPr/>
          <p:nvPr/>
        </p:nvSpPr>
        <p:spPr>
          <a:xfrm>
            <a:off x="4709160" y="4663440"/>
            <a:ext cx="1371600" cy="22860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RAG Core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Steps 1–3: Setup &amp; Configuration</a:t>
            </a:r>
            <a:endParaRPr lang="en-US" sz="2600" dirty="0"/>
          </a:p>
        </p:txBody>
      </p:sp>
      <p:sp>
        <p:nvSpPr>
          <p:cNvPr id="4" name="Shape 2"/>
          <p:cNvSpPr/>
          <p:nvPr/>
        </p:nvSpPr>
        <p:spPr>
          <a:xfrm>
            <a:off x="274320" y="822960"/>
            <a:ext cx="8595360" cy="1325880"/>
          </a:xfrm>
          <a:prstGeom prst="rect">
            <a:avLst/>
          </a:prstGeom>
          <a:solidFill>
            <a:srgbClr val="EBF5FB"/>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5" name="Shape 3"/>
          <p:cNvSpPr/>
          <p:nvPr/>
        </p:nvSpPr>
        <p:spPr>
          <a:xfrm>
            <a:off x="274320" y="822960"/>
            <a:ext cx="457200" cy="1325880"/>
          </a:xfrm>
          <a:prstGeom prst="rect">
            <a:avLst/>
          </a:prstGeom>
          <a:solidFill>
            <a:srgbClr val="065A82"/>
          </a:solidFill>
          <a:ln w="12700">
            <a:solidFill>
              <a:srgbClr val="065A82"/>
            </a:solidFill>
            <a:prstDash val="solid"/>
          </a:ln>
        </p:spPr>
      </p:sp>
      <p:sp>
        <p:nvSpPr>
          <p:cNvPr id="6" name="Text 4"/>
          <p:cNvSpPr/>
          <p:nvPr/>
        </p:nvSpPr>
        <p:spPr>
          <a:xfrm>
            <a:off x="274320" y="114300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22960" y="868680"/>
            <a:ext cx="777240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 Install Dependencies — pip install once</a:t>
            </a:r>
            <a:endParaRPr lang="en-US" sz="1500" dirty="0"/>
          </a:p>
        </p:txBody>
      </p:sp>
      <p:sp>
        <p:nvSpPr>
          <p:cNvPr id="8" name="Text 6"/>
          <p:cNvSpPr/>
          <p:nvPr/>
        </p:nvSpPr>
        <p:spPr>
          <a:xfrm>
            <a:off x="822960" y="1234440"/>
            <a:ext cx="7772400" cy="365760"/>
          </a:xfrm>
          <a:prstGeom prst="rect">
            <a:avLst/>
          </a:prstGeom>
          <a:noFill/>
          <a:ln/>
        </p:spPr>
        <p:txBody>
          <a:bodyPr wrap="square" rtlCol="0" anchor="ctr"/>
          <a:lstStyle/>
          <a:p>
            <a:pPr indent="0" marL="0">
              <a:buNone/>
            </a:pPr>
            <a:r>
              <a:rPr lang="en-US" sz="1200" i="1" dirty="0">
                <a:solidFill>
                  <a:srgbClr val="1A3040"/>
                </a:solidFill>
                <a:latin typeface="Calibri" pitchFamily="34" charset="0"/>
                <a:ea typeface="Calibri" pitchFamily="34" charset="-122"/>
                <a:cs typeface="Calibri" pitchFamily="34" charset="-120"/>
              </a:rPr>
              <a:t>pymupdf  •  pdfplumber  •  python-pptx  •  python-docx  •  faiss-cpu  •  sentence-transformers  •  gradio  •  ollama</a:t>
            </a:r>
            <a:endParaRPr lang="en-US" sz="1200" dirty="0"/>
          </a:p>
        </p:txBody>
      </p:sp>
      <p:sp>
        <p:nvSpPr>
          <p:cNvPr id="9" name="Shape 7"/>
          <p:cNvSpPr/>
          <p:nvPr/>
        </p:nvSpPr>
        <p:spPr>
          <a:xfrm>
            <a:off x="274320" y="2286000"/>
            <a:ext cx="8595360" cy="1463040"/>
          </a:xfrm>
          <a:prstGeom prst="rect">
            <a:avLst/>
          </a:prstGeom>
          <a:solidFill>
            <a:srgbClr val="EBF5FB"/>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10" name="Shape 8"/>
          <p:cNvSpPr/>
          <p:nvPr/>
        </p:nvSpPr>
        <p:spPr>
          <a:xfrm>
            <a:off x="274320" y="2286000"/>
            <a:ext cx="457200" cy="1463040"/>
          </a:xfrm>
          <a:prstGeom prst="rect">
            <a:avLst/>
          </a:prstGeom>
          <a:solidFill>
            <a:srgbClr val="1C7293"/>
          </a:solidFill>
          <a:ln w="12700">
            <a:solidFill>
              <a:srgbClr val="1C7293"/>
            </a:solidFill>
            <a:prstDash val="solid"/>
          </a:ln>
        </p:spPr>
      </p:sp>
      <p:sp>
        <p:nvSpPr>
          <p:cNvPr id="11" name="Text 9"/>
          <p:cNvSpPr/>
          <p:nvPr/>
        </p:nvSpPr>
        <p:spPr>
          <a:xfrm>
            <a:off x="274320" y="26517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822960" y="2331720"/>
            <a:ext cx="777240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 Load 4 AI Models</a:t>
            </a:r>
            <a:endParaRPr lang="en-US" sz="1500" dirty="0"/>
          </a:p>
        </p:txBody>
      </p:sp>
      <p:sp>
        <p:nvSpPr>
          <p:cNvPr id="13" name="Text 11"/>
          <p:cNvSpPr/>
          <p:nvPr/>
        </p:nvSpPr>
        <p:spPr>
          <a:xfrm>
            <a:off x="822960" y="2724912"/>
            <a:ext cx="7772400" cy="246888"/>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all-MiniLM-L6-v2 → Text &amp; table embeddings (384-dim)</a:t>
            </a:r>
            <a:endParaRPr lang="en-US" sz="1150" dirty="0"/>
          </a:p>
        </p:txBody>
      </p:sp>
      <p:sp>
        <p:nvSpPr>
          <p:cNvPr id="14" name="Text 12"/>
          <p:cNvSpPr/>
          <p:nvPr/>
        </p:nvSpPr>
        <p:spPr>
          <a:xfrm>
            <a:off x="822960" y="2971800"/>
            <a:ext cx="7772400" cy="246888"/>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CLIP ViT-B/32 → Image embeddings (512-dim, cross-modal)</a:t>
            </a:r>
            <a:endParaRPr lang="en-US" sz="1150" dirty="0"/>
          </a:p>
        </p:txBody>
      </p:sp>
      <p:sp>
        <p:nvSpPr>
          <p:cNvPr id="15" name="Text 13"/>
          <p:cNvSpPr/>
          <p:nvPr/>
        </p:nvSpPr>
        <p:spPr>
          <a:xfrm>
            <a:off x="822960" y="3218688"/>
            <a:ext cx="7772400" cy="246888"/>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ms-marco CrossEncoder → Reranks search results for accuracy</a:t>
            </a:r>
            <a:endParaRPr lang="en-US" sz="1150" dirty="0"/>
          </a:p>
        </p:txBody>
      </p:sp>
      <p:sp>
        <p:nvSpPr>
          <p:cNvPr id="16" name="Text 14"/>
          <p:cNvSpPr/>
          <p:nvPr/>
        </p:nvSpPr>
        <p:spPr>
          <a:xfrm>
            <a:off x="822960" y="3465576"/>
            <a:ext cx="7772400" cy="246888"/>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Ollama llama3.2 → Local LLM for final answer generation</a:t>
            </a:r>
            <a:endParaRPr lang="en-US" sz="1150" dirty="0"/>
          </a:p>
        </p:txBody>
      </p:sp>
      <p:sp>
        <p:nvSpPr>
          <p:cNvPr id="17" name="Shape 15"/>
          <p:cNvSpPr/>
          <p:nvPr/>
        </p:nvSpPr>
        <p:spPr>
          <a:xfrm>
            <a:off x="274320" y="3886200"/>
            <a:ext cx="8595360" cy="1005840"/>
          </a:xfrm>
          <a:prstGeom prst="rect">
            <a:avLst/>
          </a:prstGeom>
          <a:solidFill>
            <a:srgbClr val="EBF5FB"/>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8" name="Shape 16"/>
          <p:cNvSpPr/>
          <p:nvPr/>
        </p:nvSpPr>
        <p:spPr>
          <a:xfrm>
            <a:off x="274320" y="3886200"/>
            <a:ext cx="457200" cy="1005840"/>
          </a:xfrm>
          <a:prstGeom prst="rect">
            <a:avLst/>
          </a:prstGeom>
          <a:solidFill>
            <a:srgbClr val="00A896"/>
          </a:solidFill>
          <a:ln w="12700">
            <a:solidFill>
              <a:srgbClr val="00A896"/>
            </a:solidFill>
            <a:prstDash val="solid"/>
          </a:ln>
        </p:spPr>
      </p:sp>
      <p:sp>
        <p:nvSpPr>
          <p:cNvPr id="19" name="Text 17"/>
          <p:cNvSpPr/>
          <p:nvPr/>
        </p:nvSpPr>
        <p:spPr>
          <a:xfrm>
            <a:off x="274320" y="416052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822960" y="3931920"/>
            <a:ext cx="777240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 Set File Paths — Point to your documents</a:t>
            </a:r>
            <a:endParaRPr lang="en-US" sz="1500" dirty="0"/>
          </a:p>
        </p:txBody>
      </p:sp>
      <p:sp>
        <p:nvSpPr>
          <p:cNvPr id="21" name="Text 19"/>
          <p:cNvSpPr/>
          <p:nvPr/>
        </p:nvSpPr>
        <p:spPr>
          <a:xfrm>
            <a:off x="822960" y="4315968"/>
            <a:ext cx="7772400" cy="502920"/>
          </a:xfrm>
          <a:prstGeom prst="rect">
            <a:avLst/>
          </a:prstGeom>
          <a:noFill/>
          <a:ln/>
        </p:spPr>
        <p:txBody>
          <a:bodyPr wrap="square" rtlCol="0" anchor="ctr"/>
          <a:lstStyle/>
          <a:p>
            <a:pPr indent="0" marL="0">
              <a:buNone/>
            </a:pPr>
            <a:r>
              <a:rPr lang="en-US" sz="1200" dirty="0">
                <a:solidFill>
                  <a:srgbClr val="C0392B"/>
                </a:solidFill>
                <a:latin typeface="Courier New" pitchFamily="34" charset="0"/>
                <a:ea typeface="Courier New" pitchFamily="34" charset="-122"/>
                <a:cs typeface="Courier New" pitchFamily="34" charset="-120"/>
              </a:rPr>
              <a:t>uploaded_paths = [ r"D:\Downloads\Sample.pdf", r"D:\Reports\slides.pptx"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Step 4: Extract Text, Images &amp; Tables (Page-Aware)</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indent="0" marL="0">
              <a:buNone/>
            </a:pPr>
            <a:r>
              <a:rPr lang="en-US" sz="1400" i="1" dirty="0">
                <a:solidFill>
                  <a:srgbClr val="1A3040"/>
                </a:solidFill>
                <a:latin typeface="Calibri" pitchFamily="34" charset="0"/>
                <a:ea typeface="Calibri" pitchFamily="34" charset="-122"/>
                <a:cs typeface="Calibri" pitchFamily="34" charset="-120"/>
              </a:rPr>
              <a:t>Every item is tagged with its page number — enabling page-aware retrieval later.</a:t>
            </a:r>
            <a:endParaRPr lang="en-US" sz="1400" dirty="0"/>
          </a:p>
        </p:txBody>
      </p:sp>
      <p:sp>
        <p:nvSpPr>
          <p:cNvPr id="5" name="Shape 3"/>
          <p:cNvSpPr/>
          <p:nvPr/>
        </p:nvSpPr>
        <p:spPr>
          <a:xfrm>
            <a:off x="274320" y="1280160"/>
            <a:ext cx="2651760" cy="3200400"/>
          </a:xfrm>
          <a:prstGeom prst="rect">
            <a:avLst/>
          </a:prstGeom>
          <a:solidFill>
            <a:srgbClr val="EBF5FB"/>
          </a:solidFill>
          <a:ln w="25400">
            <a:solidFill>
              <a:srgbClr val="1A5276"/>
            </a:solidFill>
            <a:prstDash val="solid"/>
          </a:ln>
          <a:effectLst>
            <a:outerShdw sx="100000" sy="100000" kx="0" ky="0" algn="bl" rotWithShape="0" blurRad="101600" dist="38100" dir="8100000">
              <a:srgbClr val="000000">
                <a:alpha val="13000"/>
              </a:srgbClr>
            </a:outerShdw>
          </a:effectLst>
        </p:spPr>
      </p:sp>
      <p:sp>
        <p:nvSpPr>
          <p:cNvPr id="6" name="Shape 4"/>
          <p:cNvSpPr/>
          <p:nvPr/>
        </p:nvSpPr>
        <p:spPr>
          <a:xfrm>
            <a:off x="274320" y="1280160"/>
            <a:ext cx="2651760" cy="502920"/>
          </a:xfrm>
          <a:prstGeom prst="rect">
            <a:avLst/>
          </a:prstGeom>
          <a:solidFill>
            <a:srgbClr val="1A5276"/>
          </a:solidFill>
          <a:ln w="12700">
            <a:solidFill>
              <a:srgbClr val="1A5276"/>
            </a:solidFill>
            <a:prstDash val="solid"/>
          </a:ln>
        </p:spPr>
      </p:sp>
      <p:sp>
        <p:nvSpPr>
          <p:cNvPr id="7" name="Text 5"/>
          <p:cNvSpPr/>
          <p:nvPr/>
        </p:nvSpPr>
        <p:spPr>
          <a:xfrm>
            <a:off x="274320" y="1316736"/>
            <a:ext cx="2651760" cy="42976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Text Blocks</a:t>
            </a:r>
            <a:endParaRPr lang="en-US" sz="1400" dirty="0"/>
          </a:p>
        </p:txBody>
      </p:sp>
      <p:sp>
        <p:nvSpPr>
          <p:cNvPr id="8" name="Text 6"/>
          <p:cNvSpPr/>
          <p:nvPr/>
        </p:nvSpPr>
        <p:spPr>
          <a:xfrm>
            <a:off x="365760" y="1874520"/>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fitz.open() reads each PDF page</a:t>
            </a:r>
            <a:endParaRPr lang="en-US" sz="1150" dirty="0"/>
          </a:p>
        </p:txBody>
      </p:sp>
      <p:sp>
        <p:nvSpPr>
          <p:cNvPr id="9" name="Text 7"/>
          <p:cNvSpPr/>
          <p:nvPr/>
        </p:nvSpPr>
        <p:spPr>
          <a:xfrm>
            <a:off x="365760" y="2532888"/>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page.get_text() extracts all text</a:t>
            </a:r>
            <a:endParaRPr lang="en-US" sz="1150" dirty="0"/>
          </a:p>
        </p:txBody>
      </p:sp>
      <p:sp>
        <p:nvSpPr>
          <p:cNvPr id="10" name="Text 8"/>
          <p:cNvSpPr/>
          <p:nvPr/>
        </p:nvSpPr>
        <p:spPr>
          <a:xfrm>
            <a:off x="365760" y="3191256"/>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Stored as (page_num, text) tuples</a:t>
            </a:r>
            <a:endParaRPr lang="en-US" sz="1150" dirty="0"/>
          </a:p>
        </p:txBody>
      </p:sp>
      <p:sp>
        <p:nvSpPr>
          <p:cNvPr id="11" name="Text 9"/>
          <p:cNvSpPr/>
          <p:nvPr/>
        </p:nvSpPr>
        <p:spPr>
          <a:xfrm>
            <a:off x="365760" y="3849624"/>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Same for PPTX slides &amp; DOCX paragraphs</a:t>
            </a:r>
            <a:endParaRPr lang="en-US" sz="1150" dirty="0"/>
          </a:p>
        </p:txBody>
      </p:sp>
      <p:sp>
        <p:nvSpPr>
          <p:cNvPr id="12" name="Shape 10"/>
          <p:cNvSpPr/>
          <p:nvPr/>
        </p:nvSpPr>
        <p:spPr>
          <a:xfrm>
            <a:off x="3200400" y="1280160"/>
            <a:ext cx="2651760" cy="320040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13" name="Shape 11"/>
          <p:cNvSpPr/>
          <p:nvPr/>
        </p:nvSpPr>
        <p:spPr>
          <a:xfrm>
            <a:off x="3200400" y="1280160"/>
            <a:ext cx="2651760" cy="502920"/>
          </a:xfrm>
          <a:prstGeom prst="rect">
            <a:avLst/>
          </a:prstGeom>
          <a:solidFill>
            <a:srgbClr val="1C7293"/>
          </a:solidFill>
          <a:ln w="12700">
            <a:solidFill>
              <a:srgbClr val="1C7293"/>
            </a:solidFill>
            <a:prstDash val="solid"/>
          </a:ln>
        </p:spPr>
      </p:sp>
      <p:sp>
        <p:nvSpPr>
          <p:cNvPr id="14" name="Text 12"/>
          <p:cNvSpPr/>
          <p:nvPr/>
        </p:nvSpPr>
        <p:spPr>
          <a:xfrm>
            <a:off x="3200400" y="1316736"/>
            <a:ext cx="2651760" cy="42976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Images</a:t>
            </a:r>
            <a:endParaRPr lang="en-US" sz="1400" dirty="0"/>
          </a:p>
        </p:txBody>
      </p:sp>
      <p:sp>
        <p:nvSpPr>
          <p:cNvPr id="15" name="Text 13"/>
          <p:cNvSpPr/>
          <p:nvPr/>
        </p:nvSpPr>
        <p:spPr>
          <a:xfrm>
            <a:off x="3291840" y="1874520"/>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page.get_images() finds embedded images</a:t>
            </a:r>
            <a:endParaRPr lang="en-US" sz="1150" dirty="0"/>
          </a:p>
        </p:txBody>
      </p:sp>
      <p:sp>
        <p:nvSpPr>
          <p:cNvPr id="16" name="Text 14"/>
          <p:cNvSpPr/>
          <p:nvPr/>
        </p:nvSpPr>
        <p:spPr>
          <a:xfrm>
            <a:off x="3291840" y="2532888"/>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Converted to PIL Image objects</a:t>
            </a:r>
            <a:endParaRPr lang="en-US" sz="1150" dirty="0"/>
          </a:p>
        </p:txBody>
      </p:sp>
      <p:sp>
        <p:nvSpPr>
          <p:cNvPr id="17" name="Text 15"/>
          <p:cNvSpPr/>
          <p:nvPr/>
        </p:nvSpPr>
        <p:spPr>
          <a:xfrm>
            <a:off x="3291840" y="3191256"/>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Images &lt; 80px filtered out (noise)</a:t>
            </a:r>
            <a:endParaRPr lang="en-US" sz="1150" dirty="0"/>
          </a:p>
        </p:txBody>
      </p:sp>
      <p:sp>
        <p:nvSpPr>
          <p:cNvPr id="18" name="Text 16"/>
          <p:cNvSpPr/>
          <p:nvPr/>
        </p:nvSpPr>
        <p:spPr>
          <a:xfrm>
            <a:off x="3291840" y="3849624"/>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Stored as (page_num, PIL.Image) tuples</a:t>
            </a:r>
            <a:endParaRPr lang="en-US" sz="1150" dirty="0"/>
          </a:p>
        </p:txBody>
      </p:sp>
      <p:sp>
        <p:nvSpPr>
          <p:cNvPr id="19" name="Shape 17"/>
          <p:cNvSpPr/>
          <p:nvPr/>
        </p:nvSpPr>
        <p:spPr>
          <a:xfrm>
            <a:off x="6126480" y="1280160"/>
            <a:ext cx="2651760" cy="3200400"/>
          </a:xfrm>
          <a:prstGeom prst="rect">
            <a:avLst/>
          </a:prstGeom>
          <a:solidFill>
            <a:srgbClr val="EBF5FB"/>
          </a:solidFill>
          <a:ln w="25400">
            <a:solidFill>
              <a:srgbClr val="00A896"/>
            </a:solidFill>
            <a:prstDash val="solid"/>
          </a:ln>
          <a:effectLst>
            <a:outerShdw sx="100000" sy="100000" kx="0" ky="0" algn="bl" rotWithShape="0" blurRad="101600" dist="38100" dir="8100000">
              <a:srgbClr val="000000">
                <a:alpha val="13000"/>
              </a:srgbClr>
            </a:outerShdw>
          </a:effectLst>
        </p:spPr>
      </p:sp>
      <p:sp>
        <p:nvSpPr>
          <p:cNvPr id="20" name="Shape 18"/>
          <p:cNvSpPr/>
          <p:nvPr/>
        </p:nvSpPr>
        <p:spPr>
          <a:xfrm>
            <a:off x="6126480" y="1280160"/>
            <a:ext cx="2651760" cy="502920"/>
          </a:xfrm>
          <a:prstGeom prst="rect">
            <a:avLst/>
          </a:prstGeom>
          <a:solidFill>
            <a:srgbClr val="00A896"/>
          </a:solidFill>
          <a:ln w="12700">
            <a:solidFill>
              <a:srgbClr val="00A896"/>
            </a:solidFill>
            <a:prstDash val="solid"/>
          </a:ln>
        </p:spPr>
      </p:sp>
      <p:sp>
        <p:nvSpPr>
          <p:cNvPr id="21" name="Text 19"/>
          <p:cNvSpPr/>
          <p:nvPr/>
        </p:nvSpPr>
        <p:spPr>
          <a:xfrm>
            <a:off x="6126480" y="1316736"/>
            <a:ext cx="2651760" cy="42976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Tables</a:t>
            </a:r>
            <a:endParaRPr lang="en-US" sz="1400" dirty="0"/>
          </a:p>
        </p:txBody>
      </p:sp>
      <p:sp>
        <p:nvSpPr>
          <p:cNvPr id="22" name="Text 20"/>
          <p:cNvSpPr/>
          <p:nvPr/>
        </p:nvSpPr>
        <p:spPr>
          <a:xfrm>
            <a:off x="6217920" y="1874520"/>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pdfplumber extracts grid structures</a:t>
            </a:r>
            <a:endParaRPr lang="en-US" sz="1150" dirty="0"/>
          </a:p>
        </p:txBody>
      </p:sp>
      <p:sp>
        <p:nvSpPr>
          <p:cNvPr id="23" name="Text 21"/>
          <p:cNvSpPr/>
          <p:nvPr/>
        </p:nvSpPr>
        <p:spPr>
          <a:xfrm>
            <a:off x="6217920" y="2532888"/>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Converted to pandas DataFrames</a:t>
            </a:r>
            <a:endParaRPr lang="en-US" sz="1150" dirty="0"/>
          </a:p>
        </p:txBody>
      </p:sp>
      <p:sp>
        <p:nvSpPr>
          <p:cNvPr id="24" name="Text 22"/>
          <p:cNvSpPr/>
          <p:nvPr/>
        </p:nvSpPr>
        <p:spPr>
          <a:xfrm>
            <a:off x="6217920" y="3191256"/>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Also serialized to text description</a:t>
            </a:r>
            <a:endParaRPr lang="en-US" sz="1150" dirty="0"/>
          </a:p>
        </p:txBody>
      </p:sp>
      <p:sp>
        <p:nvSpPr>
          <p:cNvPr id="25" name="Text 23"/>
          <p:cNvSpPr/>
          <p:nvPr/>
        </p:nvSpPr>
        <p:spPr>
          <a:xfrm>
            <a:off x="6217920" y="3849624"/>
            <a:ext cx="2468880" cy="594360"/>
          </a:xfrm>
          <a:prstGeom prst="rect">
            <a:avLst/>
          </a:prstGeom>
          <a:noFill/>
          <a:ln/>
        </p:spPr>
        <p:txBody>
          <a:bodyPr wrap="square" rtlCol="0" anchor="ctr"/>
          <a:lstStyle/>
          <a:p>
            <a:pPr indent="0" marL="0">
              <a:buNone/>
            </a:pPr>
            <a:r>
              <a:rPr lang="en-US" sz="1150" dirty="0">
                <a:solidFill>
                  <a:srgbClr val="1A3040"/>
                </a:solidFill>
                <a:latin typeface="Calibri" pitchFamily="34" charset="0"/>
                <a:ea typeface="Calibri" pitchFamily="34" charset="-122"/>
                <a:cs typeface="Calibri" pitchFamily="34" charset="-120"/>
              </a:rPr>
              <a:t>• Stored as (page_num, {df, text_repr})</a:t>
            </a:r>
            <a:endParaRPr lang="en-US" sz="1150" dirty="0"/>
          </a:p>
        </p:txBody>
      </p:sp>
      <p:sp>
        <p:nvSpPr>
          <p:cNvPr id="26" name="Shape 24"/>
          <p:cNvSpPr/>
          <p:nvPr/>
        </p:nvSpPr>
        <p:spPr>
          <a:xfrm>
            <a:off x="274320" y="4663440"/>
            <a:ext cx="8595360" cy="347472"/>
          </a:xfrm>
          <a:prstGeom prst="rect">
            <a:avLst/>
          </a:prstGeom>
          <a:solidFill>
            <a:srgbClr val="00A896">
              <a:alpha val="80000"/>
            </a:srgbClr>
          </a:solidFill>
          <a:ln w="12700">
            <a:solidFill>
              <a:srgbClr val="00A896"/>
            </a:solidFill>
            <a:prstDash val="solid"/>
          </a:ln>
        </p:spPr>
      </p:sp>
      <p:sp>
        <p:nvSpPr>
          <p:cNvPr id="27" name="Text 25"/>
          <p:cNvSpPr/>
          <p:nvPr/>
        </p:nvSpPr>
        <p:spPr>
          <a:xfrm>
            <a:off x="457200" y="4709160"/>
            <a:ext cx="8229600" cy="256032"/>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  Result Example:  Sample.pdf → 4 text blocks | 1 image | 1 table — all with page numbers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Steps 5 &amp; 6: Semantic Chunking + FAISS Indexing</a:t>
            </a:r>
            <a:endParaRPr lang="en-US" sz="2200" dirty="0"/>
          </a:p>
        </p:txBody>
      </p:sp>
      <p:sp>
        <p:nvSpPr>
          <p:cNvPr id="4" name="Shape 2"/>
          <p:cNvSpPr/>
          <p:nvPr/>
        </p:nvSpPr>
        <p:spPr>
          <a:xfrm>
            <a:off x="274320" y="777240"/>
            <a:ext cx="4114800" cy="4114800"/>
          </a:xfrm>
          <a:prstGeom prst="rect">
            <a:avLst/>
          </a:prstGeom>
          <a:solidFill>
            <a:srgbClr val="EBF5FB"/>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5" name="Shape 3"/>
          <p:cNvSpPr/>
          <p:nvPr/>
        </p:nvSpPr>
        <p:spPr>
          <a:xfrm>
            <a:off x="274320" y="777240"/>
            <a:ext cx="4114800" cy="502920"/>
          </a:xfrm>
          <a:prstGeom prst="rect">
            <a:avLst/>
          </a:prstGeom>
          <a:solidFill>
            <a:srgbClr val="1C7293"/>
          </a:solidFill>
          <a:ln w="12700">
            <a:solidFill>
              <a:srgbClr val="1C7293"/>
            </a:solidFill>
            <a:prstDash val="solid"/>
          </a:ln>
        </p:spPr>
      </p:sp>
      <p:sp>
        <p:nvSpPr>
          <p:cNvPr id="6" name="Text 4"/>
          <p:cNvSpPr/>
          <p:nvPr/>
        </p:nvSpPr>
        <p:spPr>
          <a:xfrm>
            <a:off x="320040" y="804672"/>
            <a:ext cx="4023360" cy="42976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Step 5: Semantic Chunking</a:t>
            </a:r>
            <a:endParaRPr lang="en-US" sz="1400" dirty="0"/>
          </a:p>
        </p:txBody>
      </p:sp>
      <p:sp>
        <p:nvSpPr>
          <p:cNvPr id="7" name="Text 5"/>
          <p:cNvSpPr/>
          <p:nvPr/>
        </p:nvSpPr>
        <p:spPr>
          <a:xfrm>
            <a:off x="411480" y="1371600"/>
            <a:ext cx="3840480" cy="411480"/>
          </a:xfrm>
          <a:prstGeom prst="rect">
            <a:avLst/>
          </a:prstGeom>
          <a:noFill/>
          <a:ln/>
        </p:spPr>
        <p:txBody>
          <a:bodyPr wrap="square" rtlCol="0" anchor="ctr"/>
          <a:lstStyle/>
          <a:p>
            <a:pPr indent="0" marL="0">
              <a:buNone/>
            </a:pPr>
            <a:r>
              <a:rPr lang="en-US" sz="1200" i="1" dirty="0">
                <a:solidFill>
                  <a:srgbClr val="1A3040"/>
                </a:solidFill>
                <a:latin typeface="Calibri" pitchFamily="34" charset="0"/>
                <a:ea typeface="Calibri" pitchFamily="34" charset="-122"/>
                <a:cs typeface="Calibri" pitchFamily="34" charset="-120"/>
              </a:rPr>
              <a:t>Why? Raw pages are too long to embed meaningfully.</a:t>
            </a:r>
            <a:endParaRPr lang="en-US" sz="1200" dirty="0"/>
          </a:p>
        </p:txBody>
      </p:sp>
      <p:sp>
        <p:nvSpPr>
          <p:cNvPr id="8" name="Text 6"/>
          <p:cNvSpPr/>
          <p:nvPr/>
        </p:nvSpPr>
        <p:spPr>
          <a:xfrm>
            <a:off x="411480" y="1828800"/>
            <a:ext cx="3840480" cy="365760"/>
          </a:xfrm>
          <a:prstGeom prst="rect">
            <a:avLst/>
          </a:prstGeom>
          <a:noFill/>
          <a:ln/>
        </p:spPr>
        <p:txBody>
          <a:bodyPr wrap="square" rtlCol="0" anchor="ctr"/>
          <a:lstStyle/>
          <a:p>
            <a:pPr indent="0" marL="0">
              <a:buNone/>
            </a:pPr>
            <a:r>
              <a:rPr lang="en-US" sz="1200" dirty="0">
                <a:solidFill>
                  <a:srgbClr val="1A3040"/>
                </a:solidFill>
                <a:latin typeface="Calibri" pitchFamily="34" charset="0"/>
                <a:ea typeface="Calibri" pitchFamily="34" charset="-122"/>
                <a:cs typeface="Calibri" pitchFamily="34" charset="-120"/>
              </a:rPr>
              <a:t>1. Split page into sentences</a:t>
            </a:r>
            <a:endParaRPr lang="en-US" sz="1200" dirty="0"/>
          </a:p>
        </p:txBody>
      </p:sp>
      <p:sp>
        <p:nvSpPr>
          <p:cNvPr id="9" name="Text 7"/>
          <p:cNvSpPr/>
          <p:nvPr/>
        </p:nvSpPr>
        <p:spPr>
          <a:xfrm>
            <a:off x="411480" y="2240280"/>
            <a:ext cx="3840480" cy="365760"/>
          </a:xfrm>
          <a:prstGeom prst="rect">
            <a:avLst/>
          </a:prstGeom>
          <a:noFill/>
          <a:ln/>
        </p:spPr>
        <p:txBody>
          <a:bodyPr wrap="square" rtlCol="0" anchor="ctr"/>
          <a:lstStyle/>
          <a:p>
            <a:pPr indent="0" marL="0">
              <a:buNone/>
            </a:pPr>
            <a:r>
              <a:rPr lang="en-US" sz="1200" dirty="0">
                <a:solidFill>
                  <a:srgbClr val="1A3040"/>
                </a:solidFill>
                <a:latin typeface="Calibri" pitchFamily="34" charset="0"/>
                <a:ea typeface="Calibri" pitchFamily="34" charset="-122"/>
                <a:cs typeface="Calibri" pitchFamily="34" charset="-120"/>
              </a:rPr>
              <a:t>2. Embed each sentence (text model)</a:t>
            </a:r>
            <a:endParaRPr lang="en-US" sz="1200" dirty="0"/>
          </a:p>
        </p:txBody>
      </p:sp>
      <p:sp>
        <p:nvSpPr>
          <p:cNvPr id="10" name="Text 8"/>
          <p:cNvSpPr/>
          <p:nvPr/>
        </p:nvSpPr>
        <p:spPr>
          <a:xfrm>
            <a:off x="411480" y="2651760"/>
            <a:ext cx="3840480" cy="365760"/>
          </a:xfrm>
          <a:prstGeom prst="rect">
            <a:avLst/>
          </a:prstGeom>
          <a:noFill/>
          <a:ln/>
        </p:spPr>
        <p:txBody>
          <a:bodyPr wrap="square" rtlCol="0" anchor="ctr"/>
          <a:lstStyle/>
          <a:p>
            <a:pPr indent="0" marL="0">
              <a:buNone/>
            </a:pPr>
            <a:r>
              <a:rPr lang="en-US" sz="1200" dirty="0">
                <a:solidFill>
                  <a:srgbClr val="1A3040"/>
                </a:solidFill>
                <a:latin typeface="Calibri" pitchFamily="34" charset="0"/>
                <a:ea typeface="Calibri" pitchFamily="34" charset="-122"/>
                <a:cs typeface="Calibri" pitchFamily="34" charset="-120"/>
              </a:rPr>
              <a:t>3. If similarity ≥ 0.45 → same chunk</a:t>
            </a:r>
            <a:endParaRPr lang="en-US" sz="1200" dirty="0"/>
          </a:p>
        </p:txBody>
      </p:sp>
      <p:sp>
        <p:nvSpPr>
          <p:cNvPr id="11" name="Text 9"/>
          <p:cNvSpPr/>
          <p:nvPr/>
        </p:nvSpPr>
        <p:spPr>
          <a:xfrm>
            <a:off x="411480" y="3063240"/>
            <a:ext cx="3840480" cy="365760"/>
          </a:xfrm>
          <a:prstGeom prst="rect">
            <a:avLst/>
          </a:prstGeom>
          <a:noFill/>
          <a:ln/>
        </p:spPr>
        <p:txBody>
          <a:bodyPr wrap="square" rtlCol="0" anchor="ctr"/>
          <a:lstStyle/>
          <a:p>
            <a:pPr indent="0" marL="0">
              <a:buNone/>
            </a:pPr>
            <a:r>
              <a:rPr lang="en-US" sz="1200" dirty="0">
                <a:solidFill>
                  <a:srgbClr val="1A3040"/>
                </a:solidFill>
                <a:latin typeface="Calibri" pitchFamily="34" charset="0"/>
                <a:ea typeface="Calibri" pitchFamily="34" charset="-122"/>
                <a:cs typeface="Calibri" pitchFamily="34" charset="-120"/>
              </a:rPr>
              <a:t>4. If similarity drops → new chunk</a:t>
            </a:r>
            <a:endParaRPr lang="en-US" sz="1200" dirty="0"/>
          </a:p>
        </p:txBody>
      </p:sp>
      <p:sp>
        <p:nvSpPr>
          <p:cNvPr id="12" name="Text 10"/>
          <p:cNvSpPr/>
          <p:nvPr/>
        </p:nvSpPr>
        <p:spPr>
          <a:xfrm>
            <a:off x="411480" y="3474720"/>
            <a:ext cx="3840480" cy="365760"/>
          </a:xfrm>
          <a:prstGeom prst="rect">
            <a:avLst/>
          </a:prstGeom>
          <a:noFill/>
          <a:ln/>
        </p:spPr>
        <p:txBody>
          <a:bodyPr wrap="square" rtlCol="0" anchor="ctr"/>
          <a:lstStyle/>
          <a:p>
            <a:pPr indent="0" marL="0">
              <a:buNone/>
            </a:pPr>
            <a:r>
              <a:rPr lang="en-US" sz="1200" dirty="0">
                <a:solidFill>
                  <a:srgbClr val="1A3040"/>
                </a:solidFill>
                <a:latin typeface="Calibri" pitchFamily="34" charset="0"/>
                <a:ea typeface="Calibri" pitchFamily="34" charset="-122"/>
                <a:cs typeface="Calibri" pitchFamily="34" charset="-120"/>
              </a:rPr>
              <a:t>5. Each chunk keeps page number</a:t>
            </a:r>
            <a:endParaRPr lang="en-US" sz="1200" dirty="0"/>
          </a:p>
        </p:txBody>
      </p:sp>
      <p:sp>
        <p:nvSpPr>
          <p:cNvPr id="13" name="Shape 11"/>
          <p:cNvSpPr/>
          <p:nvPr/>
        </p:nvSpPr>
        <p:spPr>
          <a:xfrm>
            <a:off x="411480" y="3977640"/>
            <a:ext cx="3840480" cy="685800"/>
          </a:xfrm>
          <a:prstGeom prst="rect">
            <a:avLst/>
          </a:prstGeom>
          <a:solidFill>
            <a:srgbClr val="065A82">
              <a:alpha val="90000"/>
            </a:srgbClr>
          </a:solidFill>
          <a:ln w="12700">
            <a:solidFill>
              <a:srgbClr val="065A82"/>
            </a:solidFill>
            <a:prstDash val="solid"/>
          </a:ln>
        </p:spPr>
      </p:sp>
      <p:sp>
        <p:nvSpPr>
          <p:cNvPr id="14" name="Text 12"/>
          <p:cNvSpPr/>
          <p:nvPr/>
        </p:nvSpPr>
        <p:spPr>
          <a:xfrm>
            <a:off x="411480" y="4114800"/>
            <a:ext cx="3840480" cy="411480"/>
          </a:xfrm>
          <a:prstGeom prst="rect">
            <a:avLst/>
          </a:prstGeom>
          <a:noFill/>
          <a:ln/>
        </p:spPr>
        <p:txBody>
          <a:bodyPr wrap="square" rtlCol="0" anchor="ctr"/>
          <a:lstStyle/>
          <a:p>
            <a:pPr algn="ctr" indent="0" marL="0">
              <a:buNone/>
            </a:pPr>
            <a:r>
              <a:rPr lang="en-US" sz="1300" b="1" dirty="0">
                <a:solidFill>
                  <a:srgbClr val="F4D03F"/>
                </a:solidFill>
                <a:latin typeface="Calibri" pitchFamily="34" charset="0"/>
                <a:ea typeface="Calibri" pitchFamily="34" charset="-122"/>
                <a:cs typeface="Calibri" pitchFamily="34" charset="-120"/>
              </a:rPr>
              <a:t>4 text blocks  →  54 semantic chunks</a:t>
            </a:r>
            <a:endParaRPr lang="en-US" sz="1300" dirty="0"/>
          </a:p>
        </p:txBody>
      </p:sp>
      <p:sp>
        <p:nvSpPr>
          <p:cNvPr id="15" name="Shape 13"/>
          <p:cNvSpPr/>
          <p:nvPr/>
        </p:nvSpPr>
        <p:spPr>
          <a:xfrm>
            <a:off x="4754880" y="777240"/>
            <a:ext cx="4114800" cy="4114800"/>
          </a:xfrm>
          <a:prstGeom prst="rect">
            <a:avLst/>
          </a:prstGeom>
          <a:solidFill>
            <a:srgbClr val="EBF5FB"/>
          </a:solidFill>
          <a:ln w="12700">
            <a:solidFill>
              <a:srgbClr val="00A896"/>
            </a:solidFill>
            <a:prstDash val="solid"/>
          </a:ln>
          <a:effectLst>
            <a:outerShdw sx="100000" sy="100000" kx="0" ky="0" algn="bl" rotWithShape="0" blurRad="101600" dist="38100" dir="8100000">
              <a:srgbClr val="000000">
                <a:alpha val="13000"/>
              </a:srgbClr>
            </a:outerShdw>
          </a:effectLst>
        </p:spPr>
      </p:sp>
      <p:sp>
        <p:nvSpPr>
          <p:cNvPr id="16" name="Shape 14"/>
          <p:cNvSpPr/>
          <p:nvPr/>
        </p:nvSpPr>
        <p:spPr>
          <a:xfrm>
            <a:off x="4754880" y="777240"/>
            <a:ext cx="4114800" cy="502920"/>
          </a:xfrm>
          <a:prstGeom prst="rect">
            <a:avLst/>
          </a:prstGeom>
          <a:solidFill>
            <a:srgbClr val="00A896"/>
          </a:solidFill>
          <a:ln w="12700">
            <a:solidFill>
              <a:srgbClr val="00A896"/>
            </a:solidFill>
            <a:prstDash val="solid"/>
          </a:ln>
        </p:spPr>
      </p:sp>
      <p:sp>
        <p:nvSpPr>
          <p:cNvPr id="17" name="Text 15"/>
          <p:cNvSpPr/>
          <p:nvPr/>
        </p:nvSpPr>
        <p:spPr>
          <a:xfrm>
            <a:off x="4800600" y="804672"/>
            <a:ext cx="4023360" cy="42976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Step 6: FAISS Search Indices</a:t>
            </a:r>
            <a:endParaRPr lang="en-US" sz="1400" dirty="0"/>
          </a:p>
        </p:txBody>
      </p:sp>
      <p:sp>
        <p:nvSpPr>
          <p:cNvPr id="18" name="Shape 16"/>
          <p:cNvSpPr/>
          <p:nvPr/>
        </p:nvSpPr>
        <p:spPr>
          <a:xfrm>
            <a:off x="4892040" y="1417320"/>
            <a:ext cx="3840480" cy="868680"/>
          </a:xfrm>
          <a:prstGeom prst="rect">
            <a:avLst/>
          </a:prstGeom>
          <a:solidFill>
            <a:srgbClr val="FFFFFF"/>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19" name="Text 17"/>
          <p:cNvSpPr/>
          <p:nvPr/>
        </p:nvSpPr>
        <p:spPr>
          <a:xfrm>
            <a:off x="4983480" y="1444752"/>
            <a:ext cx="1828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Text Index</a:t>
            </a:r>
            <a:endParaRPr lang="en-US" sz="1300" dirty="0"/>
          </a:p>
        </p:txBody>
      </p:sp>
      <p:sp>
        <p:nvSpPr>
          <p:cNvPr id="20" name="Text 18"/>
          <p:cNvSpPr/>
          <p:nvPr/>
        </p:nvSpPr>
        <p:spPr>
          <a:xfrm>
            <a:off x="6858000" y="1444752"/>
            <a:ext cx="1737360" cy="365760"/>
          </a:xfrm>
          <a:prstGeom prst="rect">
            <a:avLst/>
          </a:prstGeom>
          <a:noFill/>
          <a:ln/>
        </p:spPr>
        <p:txBody>
          <a:bodyPr wrap="square" rtlCol="0" anchor="ctr"/>
          <a:lstStyle/>
          <a:p>
            <a:pPr algn="r" indent="0" marL="0">
              <a:buNone/>
            </a:pPr>
            <a:r>
              <a:rPr lang="en-US" sz="1300" b="1" dirty="0">
                <a:solidFill>
                  <a:srgbClr val="00A896"/>
                </a:solidFill>
                <a:latin typeface="Calibri" pitchFamily="34" charset="0"/>
                <a:ea typeface="Calibri" pitchFamily="34" charset="-122"/>
                <a:cs typeface="Calibri" pitchFamily="34" charset="-120"/>
              </a:rPr>
              <a:t>384-dim</a:t>
            </a:r>
            <a:endParaRPr lang="en-US" sz="1300" dirty="0"/>
          </a:p>
        </p:txBody>
      </p:sp>
      <p:sp>
        <p:nvSpPr>
          <p:cNvPr id="21" name="Text 19"/>
          <p:cNvSpPr/>
          <p:nvPr/>
        </p:nvSpPr>
        <p:spPr>
          <a:xfrm>
            <a:off x="4983480" y="1783080"/>
            <a:ext cx="2286000" cy="274320"/>
          </a:xfrm>
          <a:prstGeom prst="rect">
            <a:avLst/>
          </a:prstGeom>
          <a:noFill/>
          <a:ln/>
        </p:spPr>
        <p:txBody>
          <a:bodyPr wrap="square" rtlCol="0" anchor="ctr"/>
          <a:lstStyle/>
          <a:p>
            <a:pPr indent="0" marL="0">
              <a:buNone/>
            </a:pPr>
            <a:r>
              <a:rPr lang="en-US" sz="1000" i="1" dirty="0">
                <a:solidFill>
                  <a:srgbClr val="5D8EA6"/>
                </a:solidFill>
                <a:latin typeface="Calibri" pitchFamily="34" charset="0"/>
                <a:ea typeface="Calibri" pitchFamily="34" charset="-122"/>
                <a:cs typeface="Calibri" pitchFamily="34" charset="-120"/>
              </a:rPr>
              <a:t>Model: all-MiniLM-L6-v2</a:t>
            </a:r>
            <a:endParaRPr lang="en-US" sz="1000" dirty="0"/>
          </a:p>
        </p:txBody>
      </p:sp>
      <p:sp>
        <p:nvSpPr>
          <p:cNvPr id="22" name="Text 20"/>
          <p:cNvSpPr/>
          <p:nvPr/>
        </p:nvSpPr>
        <p:spPr>
          <a:xfrm>
            <a:off x="6675120" y="1783080"/>
            <a:ext cx="1920240" cy="274320"/>
          </a:xfrm>
          <a:prstGeom prst="rect">
            <a:avLst/>
          </a:prstGeom>
          <a:noFill/>
          <a:ln/>
        </p:spPr>
        <p:txBody>
          <a:bodyPr wrap="square" rtlCol="0" anchor="ctr"/>
          <a:lstStyle/>
          <a:p>
            <a:pPr algn="r" indent="0" marL="0">
              <a:buNone/>
            </a:pPr>
            <a:r>
              <a:rPr lang="en-US" sz="1000" dirty="0">
                <a:solidFill>
                  <a:srgbClr val="5D8EA6"/>
                </a:solidFill>
                <a:latin typeface="Calibri" pitchFamily="34" charset="0"/>
                <a:ea typeface="Calibri" pitchFamily="34" charset="-122"/>
                <a:cs typeface="Calibri" pitchFamily="34" charset="-120"/>
              </a:rPr>
              <a:t>54 vectors</a:t>
            </a:r>
            <a:endParaRPr lang="en-US" sz="1000" dirty="0"/>
          </a:p>
        </p:txBody>
      </p:sp>
      <p:sp>
        <p:nvSpPr>
          <p:cNvPr id="23" name="Shape 21"/>
          <p:cNvSpPr/>
          <p:nvPr/>
        </p:nvSpPr>
        <p:spPr>
          <a:xfrm>
            <a:off x="4892040" y="2423160"/>
            <a:ext cx="3840480" cy="868680"/>
          </a:xfrm>
          <a:prstGeom prst="rect">
            <a:avLst/>
          </a:prstGeom>
          <a:solidFill>
            <a:srgbClr val="FFFFFF"/>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24" name="Text 22"/>
          <p:cNvSpPr/>
          <p:nvPr/>
        </p:nvSpPr>
        <p:spPr>
          <a:xfrm>
            <a:off x="4983480" y="2450592"/>
            <a:ext cx="1828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Table Index</a:t>
            </a:r>
            <a:endParaRPr lang="en-US" sz="1300" dirty="0"/>
          </a:p>
        </p:txBody>
      </p:sp>
      <p:sp>
        <p:nvSpPr>
          <p:cNvPr id="25" name="Text 23"/>
          <p:cNvSpPr/>
          <p:nvPr/>
        </p:nvSpPr>
        <p:spPr>
          <a:xfrm>
            <a:off x="6858000" y="2450592"/>
            <a:ext cx="1737360" cy="365760"/>
          </a:xfrm>
          <a:prstGeom prst="rect">
            <a:avLst/>
          </a:prstGeom>
          <a:noFill/>
          <a:ln/>
        </p:spPr>
        <p:txBody>
          <a:bodyPr wrap="square" rtlCol="0" anchor="ctr"/>
          <a:lstStyle/>
          <a:p>
            <a:pPr algn="r" indent="0" marL="0">
              <a:buNone/>
            </a:pPr>
            <a:r>
              <a:rPr lang="en-US" sz="1300" b="1" dirty="0">
                <a:solidFill>
                  <a:srgbClr val="00A896"/>
                </a:solidFill>
                <a:latin typeface="Calibri" pitchFamily="34" charset="0"/>
                <a:ea typeface="Calibri" pitchFamily="34" charset="-122"/>
                <a:cs typeface="Calibri" pitchFamily="34" charset="-120"/>
              </a:rPr>
              <a:t>384-dim</a:t>
            </a:r>
            <a:endParaRPr lang="en-US" sz="1300" dirty="0"/>
          </a:p>
        </p:txBody>
      </p:sp>
      <p:sp>
        <p:nvSpPr>
          <p:cNvPr id="26" name="Text 24"/>
          <p:cNvSpPr/>
          <p:nvPr/>
        </p:nvSpPr>
        <p:spPr>
          <a:xfrm>
            <a:off x="4983480" y="2788920"/>
            <a:ext cx="2286000" cy="274320"/>
          </a:xfrm>
          <a:prstGeom prst="rect">
            <a:avLst/>
          </a:prstGeom>
          <a:noFill/>
          <a:ln/>
        </p:spPr>
        <p:txBody>
          <a:bodyPr wrap="square" rtlCol="0" anchor="ctr"/>
          <a:lstStyle/>
          <a:p>
            <a:pPr indent="0" marL="0">
              <a:buNone/>
            </a:pPr>
            <a:r>
              <a:rPr lang="en-US" sz="1000" i="1" dirty="0">
                <a:solidFill>
                  <a:srgbClr val="5D8EA6"/>
                </a:solidFill>
                <a:latin typeface="Calibri" pitchFamily="34" charset="0"/>
                <a:ea typeface="Calibri" pitchFamily="34" charset="-122"/>
                <a:cs typeface="Calibri" pitchFamily="34" charset="-120"/>
              </a:rPr>
              <a:t>Model: all-MiniLM-L6-v2</a:t>
            </a:r>
            <a:endParaRPr lang="en-US" sz="1000" dirty="0"/>
          </a:p>
        </p:txBody>
      </p:sp>
      <p:sp>
        <p:nvSpPr>
          <p:cNvPr id="27" name="Text 25"/>
          <p:cNvSpPr/>
          <p:nvPr/>
        </p:nvSpPr>
        <p:spPr>
          <a:xfrm>
            <a:off x="6675120" y="2788920"/>
            <a:ext cx="1920240" cy="274320"/>
          </a:xfrm>
          <a:prstGeom prst="rect">
            <a:avLst/>
          </a:prstGeom>
          <a:noFill/>
          <a:ln/>
        </p:spPr>
        <p:txBody>
          <a:bodyPr wrap="square" rtlCol="0" anchor="ctr"/>
          <a:lstStyle/>
          <a:p>
            <a:pPr algn="r" indent="0" marL="0">
              <a:buNone/>
            </a:pPr>
            <a:r>
              <a:rPr lang="en-US" sz="1000" dirty="0">
                <a:solidFill>
                  <a:srgbClr val="5D8EA6"/>
                </a:solidFill>
                <a:latin typeface="Calibri" pitchFamily="34" charset="0"/>
                <a:ea typeface="Calibri" pitchFamily="34" charset="-122"/>
                <a:cs typeface="Calibri" pitchFamily="34" charset="-120"/>
              </a:rPr>
              <a:t>1 vector</a:t>
            </a:r>
            <a:endParaRPr lang="en-US" sz="1000" dirty="0"/>
          </a:p>
        </p:txBody>
      </p:sp>
      <p:sp>
        <p:nvSpPr>
          <p:cNvPr id="28" name="Shape 26"/>
          <p:cNvSpPr/>
          <p:nvPr/>
        </p:nvSpPr>
        <p:spPr>
          <a:xfrm>
            <a:off x="4892040" y="3429000"/>
            <a:ext cx="3840480" cy="868680"/>
          </a:xfrm>
          <a:prstGeom prst="rect">
            <a:avLst/>
          </a:prstGeom>
          <a:solidFill>
            <a:srgbClr val="FFFFFF"/>
          </a:solidFill>
          <a:ln w="12700">
            <a:solidFill>
              <a:srgbClr val="1C7293"/>
            </a:solidFill>
            <a:prstDash val="solid"/>
          </a:ln>
          <a:effectLst>
            <a:outerShdw sx="100000" sy="100000" kx="0" ky="0" algn="bl" rotWithShape="0" blurRad="101600" dist="38100" dir="8100000">
              <a:srgbClr val="000000">
                <a:alpha val="13000"/>
              </a:srgbClr>
            </a:outerShdw>
          </a:effectLst>
        </p:spPr>
      </p:sp>
      <p:sp>
        <p:nvSpPr>
          <p:cNvPr id="29" name="Text 27"/>
          <p:cNvSpPr/>
          <p:nvPr/>
        </p:nvSpPr>
        <p:spPr>
          <a:xfrm>
            <a:off x="4983480" y="3456432"/>
            <a:ext cx="1828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Image Index</a:t>
            </a:r>
            <a:endParaRPr lang="en-US" sz="1300" dirty="0"/>
          </a:p>
        </p:txBody>
      </p:sp>
      <p:sp>
        <p:nvSpPr>
          <p:cNvPr id="30" name="Text 28"/>
          <p:cNvSpPr/>
          <p:nvPr/>
        </p:nvSpPr>
        <p:spPr>
          <a:xfrm>
            <a:off x="6858000" y="3456432"/>
            <a:ext cx="1737360" cy="365760"/>
          </a:xfrm>
          <a:prstGeom prst="rect">
            <a:avLst/>
          </a:prstGeom>
          <a:noFill/>
          <a:ln/>
        </p:spPr>
        <p:txBody>
          <a:bodyPr wrap="square" rtlCol="0" anchor="ctr"/>
          <a:lstStyle/>
          <a:p>
            <a:pPr algn="r" indent="0" marL="0">
              <a:buNone/>
            </a:pPr>
            <a:r>
              <a:rPr lang="en-US" sz="1300" b="1" dirty="0">
                <a:solidFill>
                  <a:srgbClr val="00A896"/>
                </a:solidFill>
                <a:latin typeface="Calibri" pitchFamily="34" charset="0"/>
                <a:ea typeface="Calibri" pitchFamily="34" charset="-122"/>
                <a:cs typeface="Calibri" pitchFamily="34" charset="-120"/>
              </a:rPr>
              <a:t>512-dim</a:t>
            </a:r>
            <a:endParaRPr lang="en-US" sz="1300" dirty="0"/>
          </a:p>
        </p:txBody>
      </p:sp>
      <p:sp>
        <p:nvSpPr>
          <p:cNvPr id="31" name="Text 29"/>
          <p:cNvSpPr/>
          <p:nvPr/>
        </p:nvSpPr>
        <p:spPr>
          <a:xfrm>
            <a:off x="4983480" y="3794760"/>
            <a:ext cx="2286000" cy="274320"/>
          </a:xfrm>
          <a:prstGeom prst="rect">
            <a:avLst/>
          </a:prstGeom>
          <a:noFill/>
          <a:ln/>
        </p:spPr>
        <p:txBody>
          <a:bodyPr wrap="square" rtlCol="0" anchor="ctr"/>
          <a:lstStyle/>
          <a:p>
            <a:pPr indent="0" marL="0">
              <a:buNone/>
            </a:pPr>
            <a:r>
              <a:rPr lang="en-US" sz="1000" i="1" dirty="0">
                <a:solidFill>
                  <a:srgbClr val="5D8EA6"/>
                </a:solidFill>
                <a:latin typeface="Calibri" pitchFamily="34" charset="0"/>
                <a:ea typeface="Calibri" pitchFamily="34" charset="-122"/>
                <a:cs typeface="Calibri" pitchFamily="34" charset="-120"/>
              </a:rPr>
              <a:t>Model: CLIP ViT-B/32</a:t>
            </a:r>
            <a:endParaRPr lang="en-US" sz="1000" dirty="0"/>
          </a:p>
        </p:txBody>
      </p:sp>
      <p:sp>
        <p:nvSpPr>
          <p:cNvPr id="32" name="Text 30"/>
          <p:cNvSpPr/>
          <p:nvPr/>
        </p:nvSpPr>
        <p:spPr>
          <a:xfrm>
            <a:off x="6675120" y="3794760"/>
            <a:ext cx="1920240" cy="274320"/>
          </a:xfrm>
          <a:prstGeom prst="rect">
            <a:avLst/>
          </a:prstGeom>
          <a:noFill/>
          <a:ln/>
        </p:spPr>
        <p:txBody>
          <a:bodyPr wrap="square" rtlCol="0" anchor="ctr"/>
          <a:lstStyle/>
          <a:p>
            <a:pPr algn="r" indent="0" marL="0">
              <a:buNone/>
            </a:pPr>
            <a:r>
              <a:rPr lang="en-US" sz="1000" dirty="0">
                <a:solidFill>
                  <a:srgbClr val="5D8EA6"/>
                </a:solidFill>
                <a:latin typeface="Calibri" pitchFamily="34" charset="0"/>
                <a:ea typeface="Calibri" pitchFamily="34" charset="-122"/>
                <a:cs typeface="Calibri" pitchFamily="34" charset="-120"/>
              </a:rPr>
              <a:t>1 vector</a:t>
            </a:r>
            <a:endParaRPr lang="en-US" sz="1000" dirty="0"/>
          </a:p>
        </p:txBody>
      </p:sp>
      <p:sp>
        <p:nvSpPr>
          <p:cNvPr id="33" name="Text 31"/>
          <p:cNvSpPr/>
          <p:nvPr/>
        </p:nvSpPr>
        <p:spPr>
          <a:xfrm>
            <a:off x="4892040" y="4114800"/>
            <a:ext cx="3840480" cy="548640"/>
          </a:xfrm>
          <a:prstGeom prst="rect">
            <a:avLst/>
          </a:prstGeom>
          <a:noFill/>
          <a:ln/>
        </p:spPr>
        <p:txBody>
          <a:bodyPr wrap="square" rtlCol="0" anchor="ctr"/>
          <a:lstStyle/>
          <a:p>
            <a:pPr indent="0" marL="0">
              <a:buNone/>
            </a:pPr>
            <a:r>
              <a:rPr lang="en-US" sz="1050" i="1" dirty="0">
                <a:solidFill>
                  <a:srgbClr val="1A3040"/>
                </a:solidFill>
                <a:latin typeface="Calibri" pitchFamily="34" charset="0"/>
                <a:ea typeface="Calibri" pitchFamily="34" charset="-122"/>
                <a:cs typeface="Calibri" pitchFamily="34" charset="-120"/>
              </a:rPr>
              <a:t>IndexFlatIP = inner product search (cosine similarity on normalized vectors)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Step 8: Query Pipeline — Page-Aware RAG Retrieval</a:t>
            </a:r>
            <a:endParaRPr lang="en-US" sz="2200" dirty="0"/>
          </a:p>
        </p:txBody>
      </p:sp>
      <p:sp>
        <p:nvSpPr>
          <p:cNvPr id="4" name="Shape 2"/>
          <p:cNvSpPr/>
          <p:nvPr/>
        </p:nvSpPr>
        <p:spPr>
          <a:xfrm>
            <a:off x="274320" y="822960"/>
            <a:ext cx="1965960" cy="1828800"/>
          </a:xfrm>
          <a:prstGeom prst="rect">
            <a:avLst/>
          </a:prstGeom>
          <a:solidFill>
            <a:srgbClr val="EBF5FB"/>
          </a:solidFill>
          <a:ln w="25400">
            <a:solidFill>
              <a:srgbClr val="1A5276"/>
            </a:solidFill>
            <a:prstDash val="solid"/>
          </a:ln>
          <a:effectLst>
            <a:outerShdw sx="100000" sy="100000" kx="0" ky="0" algn="bl" rotWithShape="0" blurRad="101600" dist="38100" dir="8100000">
              <a:srgbClr val="000000">
                <a:alpha val="13000"/>
              </a:srgbClr>
            </a:outerShdw>
          </a:effectLst>
        </p:spPr>
      </p:sp>
      <p:sp>
        <p:nvSpPr>
          <p:cNvPr id="5" name="Shape 3"/>
          <p:cNvSpPr/>
          <p:nvPr/>
        </p:nvSpPr>
        <p:spPr>
          <a:xfrm>
            <a:off x="274320" y="822960"/>
            <a:ext cx="1965960" cy="457200"/>
          </a:xfrm>
          <a:prstGeom prst="rect">
            <a:avLst/>
          </a:prstGeom>
          <a:solidFill>
            <a:srgbClr val="1A5276"/>
          </a:solidFill>
          <a:ln w="12700">
            <a:solidFill>
              <a:srgbClr val="1A5276"/>
            </a:solidFill>
            <a:prstDash val="solid"/>
          </a:ln>
        </p:spPr>
      </p:sp>
      <p:sp>
        <p:nvSpPr>
          <p:cNvPr id="6" name="Text 4"/>
          <p:cNvSpPr/>
          <p:nvPr/>
        </p:nvSpPr>
        <p:spPr>
          <a:xfrm>
            <a:off x="274320" y="85039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 Question</a:t>
            </a:r>
            <a:endParaRPr lang="en-US" sz="1150" dirty="0"/>
          </a:p>
        </p:txBody>
      </p:sp>
      <p:sp>
        <p:nvSpPr>
          <p:cNvPr id="7" name="Text 5"/>
          <p:cNvSpPr/>
          <p:nvPr/>
        </p:nvSpPr>
        <p:spPr>
          <a:xfrm>
            <a:off x="347472" y="137160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"What causes pain sensation?"</a:t>
            </a:r>
            <a:endParaRPr lang="en-US" sz="1050" dirty="0"/>
          </a:p>
        </p:txBody>
      </p:sp>
      <p:sp>
        <p:nvSpPr>
          <p:cNvPr id="8" name="Text 6"/>
          <p:cNvSpPr/>
          <p:nvPr/>
        </p:nvSpPr>
        <p:spPr>
          <a:xfrm>
            <a:off x="2267712" y="141732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450592" y="822960"/>
            <a:ext cx="1965960" cy="182880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10" name="Shape 8"/>
          <p:cNvSpPr/>
          <p:nvPr/>
        </p:nvSpPr>
        <p:spPr>
          <a:xfrm>
            <a:off x="2450592" y="822960"/>
            <a:ext cx="1965960" cy="457200"/>
          </a:xfrm>
          <a:prstGeom prst="rect">
            <a:avLst/>
          </a:prstGeom>
          <a:solidFill>
            <a:srgbClr val="1C7293"/>
          </a:solidFill>
          <a:ln w="12700">
            <a:solidFill>
              <a:srgbClr val="1C7293"/>
            </a:solidFill>
            <a:prstDash val="solid"/>
          </a:ln>
        </p:spPr>
      </p:sp>
      <p:sp>
        <p:nvSpPr>
          <p:cNvPr id="11" name="Text 9"/>
          <p:cNvSpPr/>
          <p:nvPr/>
        </p:nvSpPr>
        <p:spPr>
          <a:xfrm>
            <a:off x="2450592" y="85039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Embed Question</a:t>
            </a:r>
            <a:endParaRPr lang="en-US" sz="1150" dirty="0"/>
          </a:p>
        </p:txBody>
      </p:sp>
      <p:sp>
        <p:nvSpPr>
          <p:cNvPr id="12" name="Text 10"/>
          <p:cNvSpPr/>
          <p:nvPr/>
        </p:nvSpPr>
        <p:spPr>
          <a:xfrm>
            <a:off x="2523744" y="137160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text_model.encode([question])  →  384-dim vector</a:t>
            </a:r>
            <a:endParaRPr lang="en-US" sz="1050" dirty="0"/>
          </a:p>
        </p:txBody>
      </p:sp>
      <p:sp>
        <p:nvSpPr>
          <p:cNvPr id="13" name="Text 11"/>
          <p:cNvSpPr/>
          <p:nvPr/>
        </p:nvSpPr>
        <p:spPr>
          <a:xfrm>
            <a:off x="4443984" y="141732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4626864" y="822960"/>
            <a:ext cx="1965960" cy="1828800"/>
          </a:xfrm>
          <a:prstGeom prst="rect">
            <a:avLst/>
          </a:prstGeom>
          <a:solidFill>
            <a:srgbClr val="EBF5FB"/>
          </a:solidFill>
          <a:ln w="25400">
            <a:solidFill>
              <a:srgbClr val="00A896"/>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4626864" y="822960"/>
            <a:ext cx="1965960" cy="457200"/>
          </a:xfrm>
          <a:prstGeom prst="rect">
            <a:avLst/>
          </a:prstGeom>
          <a:solidFill>
            <a:srgbClr val="00A896"/>
          </a:solidFill>
          <a:ln w="12700">
            <a:solidFill>
              <a:srgbClr val="00A896"/>
            </a:solidFill>
            <a:prstDash val="solid"/>
          </a:ln>
        </p:spPr>
      </p:sp>
      <p:sp>
        <p:nvSpPr>
          <p:cNvPr id="16" name="Text 14"/>
          <p:cNvSpPr/>
          <p:nvPr/>
        </p:nvSpPr>
        <p:spPr>
          <a:xfrm>
            <a:off x="4626864" y="85039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FAISS Search</a:t>
            </a:r>
            <a:endParaRPr lang="en-US" sz="1150" dirty="0"/>
          </a:p>
        </p:txBody>
      </p:sp>
      <p:sp>
        <p:nvSpPr>
          <p:cNvPr id="17" name="Text 15"/>
          <p:cNvSpPr/>
          <p:nvPr/>
        </p:nvSpPr>
        <p:spPr>
          <a:xfrm>
            <a:off x="4700016" y="137160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Top 15 nearest text chunks  (similarity &gt; 0.15)</a:t>
            </a:r>
            <a:endParaRPr lang="en-US" sz="1050" dirty="0"/>
          </a:p>
        </p:txBody>
      </p:sp>
      <p:sp>
        <p:nvSpPr>
          <p:cNvPr id="18" name="Text 16"/>
          <p:cNvSpPr/>
          <p:nvPr/>
        </p:nvSpPr>
        <p:spPr>
          <a:xfrm>
            <a:off x="6620256" y="141732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6803136" y="822960"/>
            <a:ext cx="1965960" cy="1828800"/>
          </a:xfrm>
          <a:prstGeom prst="rect">
            <a:avLst/>
          </a:prstGeom>
          <a:solidFill>
            <a:srgbClr val="EBF5FB"/>
          </a:solidFill>
          <a:ln w="25400">
            <a:solidFill>
              <a:srgbClr val="028090"/>
            </a:solidFill>
            <a:prstDash val="solid"/>
          </a:ln>
          <a:effectLst>
            <a:outerShdw sx="100000" sy="100000" kx="0" ky="0" algn="bl" rotWithShape="0" blurRad="101600" dist="38100" dir="8100000">
              <a:srgbClr val="000000">
                <a:alpha val="13000"/>
              </a:srgbClr>
            </a:outerShdw>
          </a:effectLst>
        </p:spPr>
      </p:sp>
      <p:sp>
        <p:nvSpPr>
          <p:cNvPr id="20" name="Shape 18"/>
          <p:cNvSpPr/>
          <p:nvPr/>
        </p:nvSpPr>
        <p:spPr>
          <a:xfrm>
            <a:off x="6803136" y="822960"/>
            <a:ext cx="1965960" cy="457200"/>
          </a:xfrm>
          <a:prstGeom prst="rect">
            <a:avLst/>
          </a:prstGeom>
          <a:solidFill>
            <a:srgbClr val="028090"/>
          </a:solidFill>
          <a:ln w="12700">
            <a:solidFill>
              <a:srgbClr val="028090"/>
            </a:solidFill>
            <a:prstDash val="solid"/>
          </a:ln>
        </p:spPr>
      </p:sp>
      <p:sp>
        <p:nvSpPr>
          <p:cNvPr id="21" name="Text 19"/>
          <p:cNvSpPr/>
          <p:nvPr/>
        </p:nvSpPr>
        <p:spPr>
          <a:xfrm>
            <a:off x="6803136" y="85039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Reranker</a:t>
            </a:r>
            <a:endParaRPr lang="en-US" sz="1150" dirty="0"/>
          </a:p>
        </p:txBody>
      </p:sp>
      <p:sp>
        <p:nvSpPr>
          <p:cNvPr id="22" name="Text 20"/>
          <p:cNvSpPr/>
          <p:nvPr/>
        </p:nvSpPr>
        <p:spPr>
          <a:xfrm>
            <a:off x="6876288" y="137160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CrossEncoder re-scores 15 → keep top 7  (score &gt; -5)</a:t>
            </a:r>
            <a:endParaRPr lang="en-US" sz="1050" dirty="0"/>
          </a:p>
        </p:txBody>
      </p:sp>
      <p:sp>
        <p:nvSpPr>
          <p:cNvPr id="23" name="Shape 21"/>
          <p:cNvSpPr/>
          <p:nvPr/>
        </p:nvSpPr>
        <p:spPr>
          <a:xfrm>
            <a:off x="274320" y="2926080"/>
            <a:ext cx="1965960" cy="182880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24" name="Shape 22"/>
          <p:cNvSpPr/>
          <p:nvPr/>
        </p:nvSpPr>
        <p:spPr>
          <a:xfrm>
            <a:off x="274320" y="2926080"/>
            <a:ext cx="1965960" cy="457200"/>
          </a:xfrm>
          <a:prstGeom prst="rect">
            <a:avLst/>
          </a:prstGeom>
          <a:solidFill>
            <a:srgbClr val="1C7293"/>
          </a:solidFill>
          <a:ln w="12700">
            <a:solidFill>
              <a:srgbClr val="1C7293"/>
            </a:solidFill>
            <a:prstDash val="solid"/>
          </a:ln>
        </p:spPr>
      </p:sp>
      <p:sp>
        <p:nvSpPr>
          <p:cNvPr id="25" name="Text 23"/>
          <p:cNvSpPr/>
          <p:nvPr/>
        </p:nvSpPr>
        <p:spPr>
          <a:xfrm>
            <a:off x="274320" y="295351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Page Lookup</a:t>
            </a:r>
            <a:endParaRPr lang="en-US" sz="1150" dirty="0"/>
          </a:p>
        </p:txBody>
      </p:sp>
      <p:sp>
        <p:nvSpPr>
          <p:cNvPr id="26" name="Text 24"/>
          <p:cNvSpPr/>
          <p:nvPr/>
        </p:nvSpPr>
        <p:spPr>
          <a:xfrm>
            <a:off x="347472" y="347472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Collect page numbers from top-7 matched chunks</a:t>
            </a:r>
            <a:endParaRPr lang="en-US" sz="1050" dirty="0"/>
          </a:p>
        </p:txBody>
      </p:sp>
      <p:sp>
        <p:nvSpPr>
          <p:cNvPr id="27" name="Text 25"/>
          <p:cNvSpPr/>
          <p:nvPr/>
        </p:nvSpPr>
        <p:spPr>
          <a:xfrm>
            <a:off x="2267712" y="352044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2450592" y="2926080"/>
            <a:ext cx="1965960" cy="1828800"/>
          </a:xfrm>
          <a:prstGeom prst="rect">
            <a:avLst/>
          </a:prstGeom>
          <a:solidFill>
            <a:srgbClr val="EBF5FB"/>
          </a:solidFill>
          <a:ln w="25400">
            <a:solidFill>
              <a:srgbClr val="1A5276"/>
            </a:solidFill>
            <a:prstDash val="solid"/>
          </a:ln>
          <a:effectLst>
            <a:outerShdw sx="100000" sy="100000" kx="0" ky="0" algn="bl" rotWithShape="0" blurRad="101600" dist="38100" dir="8100000">
              <a:srgbClr val="000000">
                <a:alpha val="13000"/>
              </a:srgbClr>
            </a:outerShdw>
          </a:effectLst>
        </p:spPr>
      </p:sp>
      <p:sp>
        <p:nvSpPr>
          <p:cNvPr id="29" name="Shape 27"/>
          <p:cNvSpPr/>
          <p:nvPr/>
        </p:nvSpPr>
        <p:spPr>
          <a:xfrm>
            <a:off x="2450592" y="2926080"/>
            <a:ext cx="1965960" cy="457200"/>
          </a:xfrm>
          <a:prstGeom prst="rect">
            <a:avLst/>
          </a:prstGeom>
          <a:solidFill>
            <a:srgbClr val="1A5276"/>
          </a:solidFill>
          <a:ln w="12700">
            <a:solidFill>
              <a:srgbClr val="1A5276"/>
            </a:solidFill>
            <a:prstDash val="solid"/>
          </a:ln>
        </p:spPr>
      </p:sp>
      <p:sp>
        <p:nvSpPr>
          <p:cNvPr id="30" name="Text 28"/>
          <p:cNvSpPr/>
          <p:nvPr/>
        </p:nvSpPr>
        <p:spPr>
          <a:xfrm>
            <a:off x="2450592" y="295351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Media Retrieval</a:t>
            </a:r>
            <a:endParaRPr lang="en-US" sz="1150" dirty="0"/>
          </a:p>
        </p:txBody>
      </p:sp>
      <p:sp>
        <p:nvSpPr>
          <p:cNvPr id="31" name="Text 29"/>
          <p:cNvSpPr/>
          <p:nvPr/>
        </p:nvSpPr>
        <p:spPr>
          <a:xfrm>
            <a:off x="2523744" y="347472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Tables &amp; images ONLY from matched pages (max 2 each)</a:t>
            </a:r>
            <a:endParaRPr lang="en-US" sz="1050" dirty="0"/>
          </a:p>
        </p:txBody>
      </p:sp>
      <p:sp>
        <p:nvSpPr>
          <p:cNvPr id="32" name="Text 30"/>
          <p:cNvSpPr/>
          <p:nvPr/>
        </p:nvSpPr>
        <p:spPr>
          <a:xfrm>
            <a:off x="4443984" y="352044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4626864" y="2926080"/>
            <a:ext cx="1965960" cy="1828800"/>
          </a:xfrm>
          <a:prstGeom prst="rect">
            <a:avLst/>
          </a:prstGeom>
          <a:solidFill>
            <a:srgbClr val="EBF5FB"/>
          </a:solidFill>
          <a:ln w="25400">
            <a:solidFill>
              <a:srgbClr val="00A896"/>
            </a:solidFill>
            <a:prstDash val="solid"/>
          </a:ln>
          <a:effectLst>
            <a:outerShdw sx="100000" sy="100000" kx="0" ky="0" algn="bl" rotWithShape="0" blurRad="101600" dist="38100" dir="8100000">
              <a:srgbClr val="000000">
                <a:alpha val="13000"/>
              </a:srgbClr>
            </a:outerShdw>
          </a:effectLst>
        </p:spPr>
      </p:sp>
      <p:sp>
        <p:nvSpPr>
          <p:cNvPr id="34" name="Shape 32"/>
          <p:cNvSpPr/>
          <p:nvPr/>
        </p:nvSpPr>
        <p:spPr>
          <a:xfrm>
            <a:off x="4626864" y="2926080"/>
            <a:ext cx="1965960" cy="457200"/>
          </a:xfrm>
          <a:prstGeom prst="rect">
            <a:avLst/>
          </a:prstGeom>
          <a:solidFill>
            <a:srgbClr val="00A896"/>
          </a:solidFill>
          <a:ln w="12700">
            <a:solidFill>
              <a:srgbClr val="00A896"/>
            </a:solidFill>
            <a:prstDash val="solid"/>
          </a:ln>
        </p:spPr>
      </p:sp>
      <p:sp>
        <p:nvSpPr>
          <p:cNvPr id="35" name="Text 33"/>
          <p:cNvSpPr/>
          <p:nvPr/>
        </p:nvSpPr>
        <p:spPr>
          <a:xfrm>
            <a:off x="4626864" y="295351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LLM Generation</a:t>
            </a:r>
            <a:endParaRPr lang="en-US" sz="1150" dirty="0"/>
          </a:p>
        </p:txBody>
      </p:sp>
      <p:sp>
        <p:nvSpPr>
          <p:cNvPr id="36" name="Text 34"/>
          <p:cNvSpPr/>
          <p:nvPr/>
        </p:nvSpPr>
        <p:spPr>
          <a:xfrm>
            <a:off x="4700016" y="347472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Ollama llama3.2 answers from context only</a:t>
            </a:r>
            <a:endParaRPr lang="en-US" sz="1050" dirty="0"/>
          </a:p>
        </p:txBody>
      </p:sp>
      <p:sp>
        <p:nvSpPr>
          <p:cNvPr id="37" name="Text 35"/>
          <p:cNvSpPr/>
          <p:nvPr/>
        </p:nvSpPr>
        <p:spPr>
          <a:xfrm>
            <a:off x="6620256" y="3520440"/>
            <a:ext cx="201168"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t>
            </a:r>
            <a:endParaRPr lang="en-US" sz="1800" dirty="0"/>
          </a:p>
        </p:txBody>
      </p:sp>
      <p:sp>
        <p:nvSpPr>
          <p:cNvPr id="38" name="Shape 36"/>
          <p:cNvSpPr/>
          <p:nvPr/>
        </p:nvSpPr>
        <p:spPr>
          <a:xfrm>
            <a:off x="6803136" y="2926080"/>
            <a:ext cx="1965960" cy="1828800"/>
          </a:xfrm>
          <a:prstGeom prst="rect">
            <a:avLst/>
          </a:prstGeom>
          <a:solidFill>
            <a:srgbClr val="EBF5FB"/>
          </a:solidFill>
          <a:ln w="25400">
            <a:solidFill>
              <a:srgbClr val="028090"/>
            </a:solidFill>
            <a:prstDash val="solid"/>
          </a:ln>
          <a:effectLst>
            <a:outerShdw sx="100000" sy="100000" kx="0" ky="0" algn="bl" rotWithShape="0" blurRad="101600" dist="38100" dir="8100000">
              <a:srgbClr val="000000">
                <a:alpha val="13000"/>
              </a:srgbClr>
            </a:outerShdw>
          </a:effectLst>
        </p:spPr>
      </p:sp>
      <p:sp>
        <p:nvSpPr>
          <p:cNvPr id="39" name="Shape 37"/>
          <p:cNvSpPr/>
          <p:nvPr/>
        </p:nvSpPr>
        <p:spPr>
          <a:xfrm>
            <a:off x="6803136" y="2926080"/>
            <a:ext cx="1965960" cy="457200"/>
          </a:xfrm>
          <a:prstGeom prst="rect">
            <a:avLst/>
          </a:prstGeom>
          <a:solidFill>
            <a:srgbClr val="028090"/>
          </a:solidFill>
          <a:ln w="12700">
            <a:solidFill>
              <a:srgbClr val="028090"/>
            </a:solidFill>
            <a:prstDash val="solid"/>
          </a:ln>
        </p:spPr>
      </p:sp>
      <p:sp>
        <p:nvSpPr>
          <p:cNvPr id="40" name="Text 38"/>
          <p:cNvSpPr/>
          <p:nvPr/>
        </p:nvSpPr>
        <p:spPr>
          <a:xfrm>
            <a:off x="6803136" y="2953512"/>
            <a:ext cx="196596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Response to UI</a:t>
            </a:r>
            <a:endParaRPr lang="en-US" sz="1150" dirty="0"/>
          </a:p>
        </p:txBody>
      </p:sp>
      <p:sp>
        <p:nvSpPr>
          <p:cNvPr id="41" name="Text 39"/>
          <p:cNvSpPr/>
          <p:nvPr/>
        </p:nvSpPr>
        <p:spPr>
          <a:xfrm>
            <a:off x="6876288" y="3474720"/>
            <a:ext cx="1828800" cy="118872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Answer text + tables + images returned together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Step 9: Gradio Web UI — Correct Code for v5/6</a:t>
            </a:r>
            <a:endParaRPr lang="en-US" sz="2200" dirty="0"/>
          </a:p>
        </p:txBody>
      </p:sp>
      <p:sp>
        <p:nvSpPr>
          <p:cNvPr id="4" name="Shape 2"/>
          <p:cNvSpPr/>
          <p:nvPr/>
        </p:nvSpPr>
        <p:spPr>
          <a:xfrm>
            <a:off x="274320" y="777240"/>
            <a:ext cx="4754880" cy="3200400"/>
          </a:xfrm>
          <a:prstGeom prst="rect">
            <a:avLst/>
          </a:prstGeom>
          <a:solidFill>
            <a:srgbClr val="1E1E2E"/>
          </a:solidFill>
          <a:ln w="12700">
            <a:solidFill>
              <a:srgbClr val="1E1E2E"/>
            </a:solidFill>
            <a:prstDash val="solid"/>
          </a:ln>
          <a:effectLst>
            <a:outerShdw sx="100000" sy="100000" kx="0" ky="0" algn="bl" rotWithShape="0" blurRad="101600" dist="38100" dir="8100000">
              <a:srgbClr val="000000">
                <a:alpha val="13000"/>
              </a:srgbClr>
            </a:outerShdw>
          </a:effectLst>
        </p:spPr>
      </p:sp>
      <p:sp>
        <p:nvSpPr>
          <p:cNvPr id="5" name="Text 3"/>
          <p:cNvSpPr/>
          <p:nvPr/>
        </p:nvSpPr>
        <p:spPr>
          <a:xfrm>
            <a:off x="411480" y="868680"/>
            <a:ext cx="4572000" cy="256032"/>
          </a:xfrm>
          <a:prstGeom prst="rect">
            <a:avLst/>
          </a:prstGeom>
          <a:noFill/>
          <a:ln/>
        </p:spPr>
        <p:txBody>
          <a:bodyPr wrap="square" rtlCol="0" anchor="ctr"/>
          <a:lstStyle/>
          <a:p>
            <a:pPr indent="0" marL="0">
              <a:buNone/>
            </a:pPr>
            <a:r>
              <a:rPr lang="en-US" sz="1100" dirty="0">
                <a:solidFill>
                  <a:srgbClr val="6A9955"/>
                </a:solidFill>
                <a:latin typeface="Courier New" pitchFamily="34" charset="0"/>
                <a:ea typeface="Courier New" pitchFamily="34" charset="-122"/>
                <a:cs typeface="Courier New" pitchFamily="34" charset="-120"/>
              </a:rPr>
              <a:t># ✅ Correct for Gradio 5/6</a:t>
            </a:r>
            <a:endParaRPr lang="en-US" sz="1100" dirty="0"/>
          </a:p>
        </p:txBody>
      </p:sp>
      <p:sp>
        <p:nvSpPr>
          <p:cNvPr id="6" name="Text 4"/>
          <p:cNvSpPr/>
          <p:nvPr/>
        </p:nvSpPr>
        <p:spPr>
          <a:xfrm>
            <a:off x="411480" y="1143000"/>
            <a:ext cx="4572000" cy="256032"/>
          </a:xfrm>
          <a:prstGeom prst="rect">
            <a:avLst/>
          </a:prstGeom>
          <a:noFill/>
          <a:ln/>
        </p:spPr>
        <p:txBody>
          <a:bodyPr wrap="square" rtlCol="0" anchor="ctr"/>
          <a:lstStyle/>
          <a:p>
            <a:pPr indent="0" marL="0">
              <a:buNone/>
            </a:pPr>
            <a:r>
              <a:rPr lang="en-US" sz="1100" dirty="0">
                <a:solidFill>
                  <a:srgbClr val="569CD6"/>
                </a:solidFill>
                <a:latin typeface="Courier New" pitchFamily="34" charset="0"/>
                <a:ea typeface="Courier New" pitchFamily="34" charset="-122"/>
                <a:cs typeface="Courier New" pitchFamily="34" charset="-120"/>
              </a:rPr>
              <a:t>with gr.Blocks(</a:t>
            </a:r>
            <a:endParaRPr lang="en-US" sz="1100" dirty="0"/>
          </a:p>
        </p:txBody>
      </p:sp>
      <p:sp>
        <p:nvSpPr>
          <p:cNvPr id="7" name="Text 5"/>
          <p:cNvSpPr/>
          <p:nvPr/>
        </p:nvSpPr>
        <p:spPr>
          <a:xfrm>
            <a:off x="411480" y="1417320"/>
            <a:ext cx="4572000" cy="256032"/>
          </a:xfrm>
          <a:prstGeom prst="rect">
            <a:avLst/>
          </a:prstGeom>
          <a:noFill/>
          <a:ln/>
        </p:spPr>
        <p:txBody>
          <a:bodyPr wrap="square" rtlCol="0" anchor="ctr"/>
          <a:lstStyle/>
          <a:p>
            <a:pPr indent="0" marL="0">
              <a:buNone/>
            </a:pPr>
            <a:r>
              <a:rPr lang="en-US" sz="1100" dirty="0">
                <a:solidFill>
                  <a:srgbClr val="CE9178"/>
                </a:solidFill>
                <a:latin typeface="Courier New" pitchFamily="34" charset="0"/>
                <a:ea typeface="Courier New" pitchFamily="34" charset="-122"/>
                <a:cs typeface="Courier New" pitchFamily="34" charset="-120"/>
              </a:rPr>
              <a:t>    theme=gr.themes.Soft(),</a:t>
            </a:r>
            <a:endParaRPr lang="en-US" sz="1100" dirty="0"/>
          </a:p>
        </p:txBody>
      </p:sp>
      <p:sp>
        <p:nvSpPr>
          <p:cNvPr id="8" name="Text 6"/>
          <p:cNvSpPr/>
          <p:nvPr/>
        </p:nvSpPr>
        <p:spPr>
          <a:xfrm>
            <a:off x="411480" y="1691640"/>
            <a:ext cx="4572000" cy="256032"/>
          </a:xfrm>
          <a:prstGeom prst="rect">
            <a:avLst/>
          </a:prstGeom>
          <a:noFill/>
          <a:ln/>
        </p:spPr>
        <p:txBody>
          <a:bodyPr wrap="square" rtlCol="0" anchor="ctr"/>
          <a:lstStyle/>
          <a:p>
            <a:pPr indent="0" marL="0">
              <a:buNone/>
            </a:pPr>
            <a:r>
              <a:rPr lang="en-US" sz="1100" dirty="0">
                <a:solidFill>
                  <a:srgbClr val="CE9178"/>
                </a:solidFill>
                <a:latin typeface="Courier New" pitchFamily="34" charset="0"/>
                <a:ea typeface="Courier New" pitchFamily="34" charset="-122"/>
                <a:cs typeface="Courier New" pitchFamily="34" charset="-120"/>
              </a:rPr>
              <a:t>    title="🤖 RAG Chatbot"</a:t>
            </a:r>
            <a:endParaRPr lang="en-US" sz="1100" dirty="0"/>
          </a:p>
        </p:txBody>
      </p:sp>
      <p:sp>
        <p:nvSpPr>
          <p:cNvPr id="9" name="Text 7"/>
          <p:cNvSpPr/>
          <p:nvPr/>
        </p:nvSpPr>
        <p:spPr>
          <a:xfrm>
            <a:off x="411480" y="1965960"/>
            <a:ext cx="4572000" cy="256032"/>
          </a:xfrm>
          <a:prstGeom prst="rect">
            <a:avLst/>
          </a:prstGeom>
          <a:noFill/>
          <a:ln/>
        </p:spPr>
        <p:txBody>
          <a:bodyPr wrap="square" rtlCol="0" anchor="ctr"/>
          <a:lstStyle/>
          <a:p>
            <a:pPr indent="0" marL="0">
              <a:buNone/>
            </a:pPr>
            <a:r>
              <a:rPr lang="en-US" sz="1100" dirty="0">
                <a:solidFill>
                  <a:srgbClr val="569CD6"/>
                </a:solidFill>
                <a:latin typeface="Courier New" pitchFamily="34" charset="0"/>
                <a:ea typeface="Courier New" pitchFamily="34" charset="-122"/>
                <a:cs typeface="Courier New" pitchFamily="34" charset="-120"/>
              </a:rPr>
              <a:t>) as demo:</a:t>
            </a:r>
            <a:endParaRPr lang="en-US" sz="1100" dirty="0"/>
          </a:p>
        </p:txBody>
      </p:sp>
      <p:sp>
        <p:nvSpPr>
          <p:cNvPr id="10" name="Text 8"/>
          <p:cNvSpPr/>
          <p:nvPr/>
        </p:nvSpPr>
        <p:spPr>
          <a:xfrm>
            <a:off x="411480" y="2240280"/>
            <a:ext cx="4572000" cy="256032"/>
          </a:xfrm>
          <a:prstGeom prst="rect">
            <a:avLst/>
          </a:prstGeom>
          <a:noFill/>
          <a:ln/>
        </p:spPr>
        <p:txBody>
          <a:bodyPr wrap="square" rtlCol="0" anchor="ctr"/>
          <a:lstStyle/>
          <a:p>
            <a:pPr indent="0" marL="0">
              <a:buNone/>
            </a:pPr>
            <a:r>
              <a:rPr lang="en-US" sz="1100" dirty="0">
                <a:solidFill>
                  <a:srgbClr val="DCDCAA"/>
                </a:solidFill>
                <a:latin typeface="Courier New" pitchFamily="34" charset="0"/>
                <a:ea typeface="Courier New" pitchFamily="34" charset="-122"/>
                <a:cs typeface="Courier New" pitchFamily="34" charset="-120"/>
              </a:rPr>
              <a:t>    gr.Markdown('# My Chatbot')</a:t>
            </a:r>
            <a:endParaRPr lang="en-US" sz="1100" dirty="0"/>
          </a:p>
        </p:txBody>
      </p:sp>
      <p:sp>
        <p:nvSpPr>
          <p:cNvPr id="11" name="Text 9"/>
          <p:cNvSpPr/>
          <p:nvPr/>
        </p:nvSpPr>
        <p:spPr>
          <a:xfrm>
            <a:off x="411480" y="2514600"/>
            <a:ext cx="4572000" cy="256032"/>
          </a:xfrm>
          <a:prstGeom prst="rect">
            <a:avLst/>
          </a:prstGeom>
          <a:noFill/>
          <a:ln/>
        </p:spPr>
        <p:txBody>
          <a:bodyPr wrap="square" rtlCol="0" anchor="ctr"/>
          <a:lstStyle/>
          <a:p>
            <a:pPr indent="0" marL="0">
              <a:buNone/>
            </a:pPr>
            <a:r>
              <a:rPr lang="en-US" sz="1100" dirty="0">
                <a:solidFill>
                  <a:srgbClr val="569CD6"/>
                </a:solidFill>
                <a:latin typeface="Courier New" pitchFamily="34" charset="0"/>
                <a:ea typeface="Courier New" pitchFamily="34" charset="-122"/>
                <a:cs typeface="Courier New" pitchFamily="34" charset="-120"/>
              </a:rPr>
              <a:t>    gr.ChatInterface(</a:t>
            </a:r>
            <a:endParaRPr lang="en-US" sz="1100" dirty="0"/>
          </a:p>
        </p:txBody>
      </p:sp>
      <p:sp>
        <p:nvSpPr>
          <p:cNvPr id="12" name="Text 10"/>
          <p:cNvSpPr/>
          <p:nvPr/>
        </p:nvSpPr>
        <p:spPr>
          <a:xfrm>
            <a:off x="411480" y="2788920"/>
            <a:ext cx="4572000" cy="256032"/>
          </a:xfrm>
          <a:prstGeom prst="rect">
            <a:avLst/>
          </a:prstGeom>
          <a:noFill/>
          <a:ln/>
        </p:spPr>
        <p:txBody>
          <a:bodyPr wrap="square" rtlCol="0" anchor="ctr"/>
          <a:lstStyle/>
          <a:p>
            <a:pPr indent="0" marL="0">
              <a:buNone/>
            </a:pPr>
            <a:r>
              <a:rPr lang="en-US" sz="1100" dirty="0">
                <a:solidFill>
                  <a:srgbClr val="9CDCFE"/>
                </a:solidFill>
                <a:latin typeface="Courier New" pitchFamily="34" charset="0"/>
                <a:ea typeface="Courier New" pitchFamily="34" charset="-122"/>
                <a:cs typeface="Courier New" pitchFamily="34" charset="-120"/>
              </a:rPr>
              <a:t>        fn=on_send,</a:t>
            </a:r>
            <a:endParaRPr lang="en-US" sz="1100" dirty="0"/>
          </a:p>
        </p:txBody>
      </p:sp>
      <p:sp>
        <p:nvSpPr>
          <p:cNvPr id="13" name="Text 11"/>
          <p:cNvSpPr/>
          <p:nvPr/>
        </p:nvSpPr>
        <p:spPr>
          <a:xfrm>
            <a:off x="411480" y="3063240"/>
            <a:ext cx="4572000" cy="256032"/>
          </a:xfrm>
          <a:prstGeom prst="rect">
            <a:avLst/>
          </a:prstGeom>
          <a:noFill/>
          <a:ln/>
        </p:spPr>
        <p:txBody>
          <a:bodyPr wrap="square" rtlCol="0" anchor="ctr"/>
          <a:lstStyle/>
          <a:p>
            <a:pPr indent="0" marL="0">
              <a:buNone/>
            </a:pPr>
            <a:r>
              <a:rPr lang="en-US" sz="1100" dirty="0">
                <a:solidFill>
                  <a:srgbClr val="9CDCFE"/>
                </a:solidFill>
                <a:latin typeface="Courier New" pitchFamily="34" charset="0"/>
                <a:ea typeface="Courier New" pitchFamily="34" charset="-122"/>
                <a:cs typeface="Courier New" pitchFamily="34" charset="-120"/>
              </a:rPr>
              <a:t>        examples=[...],</a:t>
            </a:r>
            <a:endParaRPr lang="en-US" sz="1100" dirty="0"/>
          </a:p>
        </p:txBody>
      </p:sp>
      <p:sp>
        <p:nvSpPr>
          <p:cNvPr id="14" name="Text 12"/>
          <p:cNvSpPr/>
          <p:nvPr/>
        </p:nvSpPr>
        <p:spPr>
          <a:xfrm>
            <a:off x="411480" y="3337560"/>
            <a:ext cx="4572000" cy="256032"/>
          </a:xfrm>
          <a:prstGeom prst="rect">
            <a:avLst/>
          </a:prstGeom>
          <a:noFill/>
          <a:ln/>
        </p:spPr>
        <p:txBody>
          <a:bodyPr wrap="square" rtlCol="0" anchor="ctr"/>
          <a:lstStyle/>
          <a:p>
            <a:pPr indent="0" marL="0">
              <a:buNone/>
            </a:pPr>
            <a:r>
              <a:rPr lang="en-US" sz="1100" dirty="0">
                <a:solidFill>
                  <a:srgbClr val="569CD6"/>
                </a:solidFill>
                <a:latin typeface="Courier New" pitchFamily="34" charset="0"/>
                <a:ea typeface="Courier New" pitchFamily="34" charset="-122"/>
                <a:cs typeface="Courier New" pitchFamily="34" charset="-120"/>
              </a:rPr>
              <a:t>    )</a:t>
            </a:r>
            <a:endParaRPr lang="en-US" sz="1100" dirty="0"/>
          </a:p>
        </p:txBody>
      </p:sp>
      <p:sp>
        <p:nvSpPr>
          <p:cNvPr id="15" name="Text 13"/>
          <p:cNvSpPr/>
          <p:nvPr/>
        </p:nvSpPr>
        <p:spPr>
          <a:xfrm>
            <a:off x="411480" y="3611880"/>
            <a:ext cx="4572000" cy="256032"/>
          </a:xfrm>
          <a:prstGeom prst="rect">
            <a:avLst/>
          </a:prstGeom>
          <a:noFill/>
          <a:ln/>
        </p:spPr>
        <p:txBody>
          <a:bodyPr wrap="square" rtlCol="0" anchor="ctr"/>
          <a:lstStyle/>
          <a:p>
            <a:pPr indent="0" marL="0">
              <a:buNone/>
            </a:pPr>
            <a:r>
              <a:rPr lang="en-US" sz="1100" dirty="0">
                <a:solidFill>
                  <a:srgbClr val="DCDCAA"/>
                </a:solidFill>
                <a:latin typeface="Courier New" pitchFamily="34" charset="0"/>
                <a:ea typeface="Courier New" pitchFamily="34" charset="-122"/>
                <a:cs typeface="Courier New" pitchFamily="34" charset="-120"/>
              </a:rPr>
              <a:t>demo.launch(debug=True)</a:t>
            </a:r>
            <a:endParaRPr lang="en-US" sz="1100" dirty="0"/>
          </a:p>
        </p:txBody>
      </p:sp>
      <p:sp>
        <p:nvSpPr>
          <p:cNvPr id="16" name="Text 14"/>
          <p:cNvSpPr/>
          <p:nvPr/>
        </p:nvSpPr>
        <p:spPr>
          <a:xfrm>
            <a:off x="5303520" y="804672"/>
            <a:ext cx="3657600" cy="36576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What Changed in Gradio 5/6:</a:t>
            </a:r>
            <a:endParaRPr lang="en-US" sz="1400" dirty="0"/>
          </a:p>
        </p:txBody>
      </p:sp>
      <p:sp>
        <p:nvSpPr>
          <p:cNvPr id="17" name="Shape 15"/>
          <p:cNvSpPr/>
          <p:nvPr/>
        </p:nvSpPr>
        <p:spPr>
          <a:xfrm>
            <a:off x="5303520" y="1234440"/>
            <a:ext cx="3566160" cy="438912"/>
          </a:xfrm>
          <a:prstGeom prst="rect">
            <a:avLst/>
          </a:prstGeom>
          <a:solidFill>
            <a:srgbClr val="EBF5FB"/>
          </a:solidFill>
          <a:ln w="12700">
            <a:solidFill>
              <a:srgbClr val="1C7293"/>
            </a:solidFill>
            <a:prstDash val="solid"/>
          </a:ln>
        </p:spPr>
      </p:sp>
      <p:sp>
        <p:nvSpPr>
          <p:cNvPr id="18" name="Text 16"/>
          <p:cNvSpPr/>
          <p:nvPr/>
        </p:nvSpPr>
        <p:spPr>
          <a:xfrm>
            <a:off x="5394960" y="1280160"/>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theme=...</a:t>
            </a:r>
            <a:endParaRPr lang="en-US" sz="1050" dirty="0"/>
          </a:p>
        </p:txBody>
      </p:sp>
      <p:sp>
        <p:nvSpPr>
          <p:cNvPr id="19" name="Text 17"/>
          <p:cNvSpPr/>
          <p:nvPr/>
        </p:nvSpPr>
        <p:spPr>
          <a:xfrm>
            <a:off x="6949440" y="1289304"/>
            <a:ext cx="1828800" cy="329184"/>
          </a:xfrm>
          <a:prstGeom prst="rect">
            <a:avLst/>
          </a:prstGeom>
          <a:noFill/>
          <a:ln/>
        </p:spPr>
        <p:txBody>
          <a:bodyPr wrap="square"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Move to gr.Blocks()</a:t>
            </a:r>
            <a:endParaRPr lang="en-US" sz="1050" dirty="0"/>
          </a:p>
        </p:txBody>
      </p:sp>
      <p:sp>
        <p:nvSpPr>
          <p:cNvPr id="20" name="Shape 18"/>
          <p:cNvSpPr/>
          <p:nvPr/>
        </p:nvSpPr>
        <p:spPr>
          <a:xfrm>
            <a:off x="5303520" y="1719072"/>
            <a:ext cx="3566160" cy="438912"/>
          </a:xfrm>
          <a:prstGeom prst="rect">
            <a:avLst/>
          </a:prstGeom>
          <a:solidFill>
            <a:srgbClr val="EBF5FB"/>
          </a:solidFill>
          <a:ln w="12700">
            <a:solidFill>
              <a:srgbClr val="1C7293"/>
            </a:solidFill>
            <a:prstDash val="solid"/>
          </a:ln>
        </p:spPr>
      </p:sp>
      <p:sp>
        <p:nvSpPr>
          <p:cNvPr id="21" name="Text 19"/>
          <p:cNvSpPr/>
          <p:nvPr/>
        </p:nvSpPr>
        <p:spPr>
          <a:xfrm>
            <a:off x="5394960" y="1764792"/>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title=...</a:t>
            </a:r>
            <a:endParaRPr lang="en-US" sz="1050" dirty="0"/>
          </a:p>
        </p:txBody>
      </p:sp>
      <p:sp>
        <p:nvSpPr>
          <p:cNvPr id="22" name="Text 20"/>
          <p:cNvSpPr/>
          <p:nvPr/>
        </p:nvSpPr>
        <p:spPr>
          <a:xfrm>
            <a:off x="6949440" y="1773936"/>
            <a:ext cx="1828800" cy="329184"/>
          </a:xfrm>
          <a:prstGeom prst="rect">
            <a:avLst/>
          </a:prstGeom>
          <a:noFill/>
          <a:ln/>
        </p:spPr>
        <p:txBody>
          <a:bodyPr wrap="square"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Move to gr.Blocks()</a:t>
            </a:r>
            <a:endParaRPr lang="en-US" sz="1050" dirty="0"/>
          </a:p>
        </p:txBody>
      </p:sp>
      <p:sp>
        <p:nvSpPr>
          <p:cNvPr id="23" name="Shape 21"/>
          <p:cNvSpPr/>
          <p:nvPr/>
        </p:nvSpPr>
        <p:spPr>
          <a:xfrm>
            <a:off x="5303520" y="2203704"/>
            <a:ext cx="3566160" cy="438912"/>
          </a:xfrm>
          <a:prstGeom prst="rect">
            <a:avLst/>
          </a:prstGeom>
          <a:solidFill>
            <a:srgbClr val="EBF5FB"/>
          </a:solidFill>
          <a:ln w="12700">
            <a:solidFill>
              <a:srgbClr val="1C7293"/>
            </a:solidFill>
            <a:prstDash val="solid"/>
          </a:ln>
        </p:spPr>
      </p:sp>
      <p:sp>
        <p:nvSpPr>
          <p:cNvPr id="24" name="Text 22"/>
          <p:cNvSpPr/>
          <p:nvPr/>
        </p:nvSpPr>
        <p:spPr>
          <a:xfrm>
            <a:off x="5394960" y="2249424"/>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description=...</a:t>
            </a:r>
            <a:endParaRPr lang="en-US" sz="1050" dirty="0"/>
          </a:p>
        </p:txBody>
      </p:sp>
      <p:sp>
        <p:nvSpPr>
          <p:cNvPr id="25" name="Text 23"/>
          <p:cNvSpPr/>
          <p:nvPr/>
        </p:nvSpPr>
        <p:spPr>
          <a:xfrm>
            <a:off x="6949440" y="2258568"/>
            <a:ext cx="1828800" cy="329184"/>
          </a:xfrm>
          <a:prstGeom prst="rect">
            <a:avLst/>
          </a:prstGeom>
          <a:noFill/>
          <a:ln/>
        </p:spPr>
        <p:txBody>
          <a:bodyPr wrap="square" rtlCol="0" anchor="ctr"/>
          <a:lstStyle/>
          <a:p>
            <a:pPr indent="0" marL="0">
              <a:buNone/>
            </a:pPr>
            <a:r>
              <a:rPr lang="en-US" sz="1050" dirty="0">
                <a:solidFill>
                  <a:srgbClr val="065A82"/>
                </a:solidFill>
                <a:latin typeface="Calibri" pitchFamily="34" charset="0"/>
                <a:ea typeface="Calibri" pitchFamily="34" charset="-122"/>
                <a:cs typeface="Calibri" pitchFamily="34" charset="-120"/>
              </a:rPr>
              <a:t>→ Use gr.Markdown()</a:t>
            </a:r>
            <a:endParaRPr lang="en-US" sz="1050" dirty="0"/>
          </a:p>
        </p:txBody>
      </p:sp>
      <p:sp>
        <p:nvSpPr>
          <p:cNvPr id="26" name="Shape 24"/>
          <p:cNvSpPr/>
          <p:nvPr/>
        </p:nvSpPr>
        <p:spPr>
          <a:xfrm>
            <a:off x="5303520" y="2688336"/>
            <a:ext cx="3566160" cy="438912"/>
          </a:xfrm>
          <a:prstGeom prst="rect">
            <a:avLst/>
          </a:prstGeom>
          <a:solidFill>
            <a:srgbClr val="FADBD8"/>
          </a:solidFill>
          <a:ln w="12700">
            <a:solidFill>
              <a:srgbClr val="E74C3C"/>
            </a:solidFill>
            <a:prstDash val="solid"/>
          </a:ln>
        </p:spPr>
      </p:sp>
      <p:sp>
        <p:nvSpPr>
          <p:cNvPr id="27" name="Text 25"/>
          <p:cNvSpPr/>
          <p:nvPr/>
        </p:nvSpPr>
        <p:spPr>
          <a:xfrm>
            <a:off x="5394960" y="2734056"/>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retry_btn=string</a:t>
            </a:r>
            <a:endParaRPr lang="en-US" sz="1050" dirty="0"/>
          </a:p>
        </p:txBody>
      </p:sp>
      <p:sp>
        <p:nvSpPr>
          <p:cNvPr id="28" name="Text 26"/>
          <p:cNvSpPr/>
          <p:nvPr/>
        </p:nvSpPr>
        <p:spPr>
          <a:xfrm>
            <a:off x="6949440" y="2743200"/>
            <a:ext cx="1828800" cy="329184"/>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 REMOVED entirely</a:t>
            </a:r>
            <a:endParaRPr lang="en-US" sz="1050" dirty="0"/>
          </a:p>
        </p:txBody>
      </p:sp>
      <p:sp>
        <p:nvSpPr>
          <p:cNvPr id="29" name="Shape 27"/>
          <p:cNvSpPr/>
          <p:nvPr/>
        </p:nvSpPr>
        <p:spPr>
          <a:xfrm>
            <a:off x="5303520" y="3172968"/>
            <a:ext cx="3566160" cy="438912"/>
          </a:xfrm>
          <a:prstGeom prst="rect">
            <a:avLst/>
          </a:prstGeom>
          <a:solidFill>
            <a:srgbClr val="FADBD8"/>
          </a:solidFill>
          <a:ln w="12700">
            <a:solidFill>
              <a:srgbClr val="E74C3C"/>
            </a:solidFill>
            <a:prstDash val="solid"/>
          </a:ln>
        </p:spPr>
      </p:sp>
      <p:sp>
        <p:nvSpPr>
          <p:cNvPr id="30" name="Text 28"/>
          <p:cNvSpPr/>
          <p:nvPr/>
        </p:nvSpPr>
        <p:spPr>
          <a:xfrm>
            <a:off x="5394960" y="3218688"/>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undo_btn=string</a:t>
            </a:r>
            <a:endParaRPr lang="en-US" sz="1050" dirty="0"/>
          </a:p>
        </p:txBody>
      </p:sp>
      <p:sp>
        <p:nvSpPr>
          <p:cNvPr id="31" name="Text 29"/>
          <p:cNvSpPr/>
          <p:nvPr/>
        </p:nvSpPr>
        <p:spPr>
          <a:xfrm>
            <a:off x="6949440" y="3227832"/>
            <a:ext cx="1828800" cy="329184"/>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 REMOVED entirely</a:t>
            </a:r>
            <a:endParaRPr lang="en-US" sz="1050" dirty="0"/>
          </a:p>
        </p:txBody>
      </p:sp>
      <p:sp>
        <p:nvSpPr>
          <p:cNvPr id="32" name="Shape 30"/>
          <p:cNvSpPr/>
          <p:nvPr/>
        </p:nvSpPr>
        <p:spPr>
          <a:xfrm>
            <a:off x="5303520" y="3657600"/>
            <a:ext cx="3566160" cy="438912"/>
          </a:xfrm>
          <a:prstGeom prst="rect">
            <a:avLst/>
          </a:prstGeom>
          <a:solidFill>
            <a:srgbClr val="FADBD8"/>
          </a:solidFill>
          <a:ln w="12700">
            <a:solidFill>
              <a:srgbClr val="E74C3C"/>
            </a:solidFill>
            <a:prstDash val="solid"/>
          </a:ln>
        </p:spPr>
      </p:sp>
      <p:sp>
        <p:nvSpPr>
          <p:cNvPr id="33" name="Text 31"/>
          <p:cNvSpPr/>
          <p:nvPr/>
        </p:nvSpPr>
        <p:spPr>
          <a:xfrm>
            <a:off x="5394960" y="3703320"/>
            <a:ext cx="1554480" cy="329184"/>
          </a:xfrm>
          <a:prstGeom prst="rect">
            <a:avLst/>
          </a:prstGeom>
          <a:noFill/>
          <a:ln/>
        </p:spPr>
        <p:txBody>
          <a:bodyPr wrap="square" rtlCol="0" anchor="ctr"/>
          <a:lstStyle/>
          <a:p>
            <a:pPr indent="0" marL="0">
              <a:buNone/>
            </a:pPr>
            <a:r>
              <a:rPr lang="en-US" sz="1050" dirty="0">
                <a:solidFill>
                  <a:srgbClr val="C0392B"/>
                </a:solidFill>
                <a:latin typeface="Courier New" pitchFamily="34" charset="0"/>
                <a:ea typeface="Courier New" pitchFamily="34" charset="-122"/>
                <a:cs typeface="Courier New" pitchFamily="34" charset="-120"/>
              </a:rPr>
              <a:t>clear_btn=string</a:t>
            </a:r>
            <a:endParaRPr lang="en-US" sz="1050" dirty="0"/>
          </a:p>
        </p:txBody>
      </p:sp>
      <p:sp>
        <p:nvSpPr>
          <p:cNvPr id="34" name="Text 32"/>
          <p:cNvSpPr/>
          <p:nvPr/>
        </p:nvSpPr>
        <p:spPr>
          <a:xfrm>
            <a:off x="6949440" y="3712464"/>
            <a:ext cx="1828800" cy="329184"/>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 REMOVED entirely</a:t>
            </a:r>
            <a:endParaRPr lang="en-US" sz="1050" dirty="0"/>
          </a:p>
        </p:txBody>
      </p:sp>
      <p:sp>
        <p:nvSpPr>
          <p:cNvPr id="35" name="Shape 33"/>
          <p:cNvSpPr/>
          <p:nvPr/>
        </p:nvSpPr>
        <p:spPr>
          <a:xfrm>
            <a:off x="274320" y="4114800"/>
            <a:ext cx="8595360" cy="868680"/>
          </a:xfrm>
          <a:prstGeom prst="rect">
            <a:avLst/>
          </a:prstGeom>
          <a:solidFill>
            <a:srgbClr val="EBF5FB"/>
          </a:solidFill>
          <a:ln w="12700">
            <a:solidFill>
              <a:srgbClr val="1C7293"/>
            </a:solidFill>
            <a:prstDash val="solid"/>
          </a:ln>
        </p:spPr>
      </p:sp>
      <p:sp>
        <p:nvSpPr>
          <p:cNvPr id="36" name="Text 34"/>
          <p:cNvSpPr/>
          <p:nvPr/>
        </p:nvSpPr>
        <p:spPr>
          <a:xfrm>
            <a:off x="457200" y="4160520"/>
            <a:ext cx="18288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UI Features:</a:t>
            </a:r>
            <a:endParaRPr lang="en-US" sz="1300" dirty="0"/>
          </a:p>
        </p:txBody>
      </p:sp>
      <p:sp>
        <p:nvSpPr>
          <p:cNvPr id="37" name="Text 35"/>
          <p:cNvSpPr/>
          <p:nvPr/>
        </p:nvSpPr>
        <p:spPr>
          <a:xfrm>
            <a:off x="457200" y="4480560"/>
            <a:ext cx="1645920" cy="32004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 ChatGPT-style chat</a:t>
            </a:r>
            <a:endParaRPr lang="en-US" sz="1100" dirty="0"/>
          </a:p>
        </p:txBody>
      </p:sp>
      <p:sp>
        <p:nvSpPr>
          <p:cNvPr id="38" name="Text 36"/>
          <p:cNvSpPr/>
          <p:nvPr/>
        </p:nvSpPr>
        <p:spPr>
          <a:xfrm>
            <a:off x="2148840" y="4480560"/>
            <a:ext cx="1645920" cy="32004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 Inline tables</a:t>
            </a:r>
            <a:endParaRPr lang="en-US" sz="1100" dirty="0"/>
          </a:p>
        </p:txBody>
      </p:sp>
      <p:sp>
        <p:nvSpPr>
          <p:cNvPr id="39" name="Text 37"/>
          <p:cNvSpPr/>
          <p:nvPr/>
        </p:nvSpPr>
        <p:spPr>
          <a:xfrm>
            <a:off x="3840480" y="4480560"/>
            <a:ext cx="1645920" cy="32004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 Inline images</a:t>
            </a:r>
            <a:endParaRPr lang="en-US" sz="1100" dirty="0"/>
          </a:p>
        </p:txBody>
      </p:sp>
      <p:sp>
        <p:nvSpPr>
          <p:cNvPr id="40" name="Text 38"/>
          <p:cNvSpPr/>
          <p:nvPr/>
        </p:nvSpPr>
        <p:spPr>
          <a:xfrm>
            <a:off x="5532120" y="4480560"/>
            <a:ext cx="1645920" cy="32004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 Off-topic detection</a:t>
            </a:r>
            <a:endParaRPr lang="en-US" sz="1100" dirty="0"/>
          </a:p>
        </p:txBody>
      </p:sp>
      <p:sp>
        <p:nvSpPr>
          <p:cNvPr id="41" name="Text 39"/>
          <p:cNvSpPr/>
          <p:nvPr/>
        </p:nvSpPr>
        <p:spPr>
          <a:xfrm>
            <a:off x="7223760" y="4480560"/>
            <a:ext cx="1645920" cy="320040"/>
          </a:xfrm>
          <a:prstGeom prst="rect">
            <a:avLst/>
          </a:prstGeom>
          <a:noFill/>
          <a:ln/>
        </p:spPr>
        <p:txBody>
          <a:bodyPr wrap="square" rtlCol="0" anchor="ctr"/>
          <a:lstStyle/>
          <a:p>
            <a:pPr indent="0" marL="0">
              <a:buNone/>
            </a:pPr>
            <a:r>
              <a:rPr lang="en-US" sz="1100" dirty="0">
                <a:solidFill>
                  <a:srgbClr val="1A3040"/>
                </a:solidFill>
                <a:latin typeface="Calibri" pitchFamily="34" charset="0"/>
                <a:ea typeface="Calibri" pitchFamily="34" charset="-122"/>
                <a:cs typeface="Calibri" pitchFamily="34" charset="-120"/>
              </a:rPr>
              <a:t>💡 Example prompts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End-to-End Flow: A Question Being Answered</a:t>
            </a:r>
            <a:endParaRPr lang="en-US" sz="2400" dirty="0"/>
          </a:p>
        </p:txBody>
      </p:sp>
      <p:sp>
        <p:nvSpPr>
          <p:cNvPr id="4" name="Text 2"/>
          <p:cNvSpPr/>
          <p:nvPr/>
        </p:nvSpPr>
        <p:spPr>
          <a:xfrm>
            <a:off x="365760" y="777240"/>
            <a:ext cx="8412480" cy="411480"/>
          </a:xfrm>
          <a:prstGeom prst="rect">
            <a:avLst/>
          </a:prstGeom>
          <a:noFill/>
          <a:ln/>
        </p:spPr>
        <p:txBody>
          <a:bodyPr wrap="square"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User types: "What is Nociceptors?"</a:t>
            </a:r>
            <a:endParaRPr lang="en-US" sz="1600" dirty="0"/>
          </a:p>
        </p:txBody>
      </p:sp>
      <p:sp>
        <p:nvSpPr>
          <p:cNvPr id="5" name="Shape 3"/>
          <p:cNvSpPr/>
          <p:nvPr/>
        </p:nvSpPr>
        <p:spPr>
          <a:xfrm>
            <a:off x="274320" y="1325880"/>
            <a:ext cx="2651760" cy="1600200"/>
          </a:xfrm>
          <a:prstGeom prst="rect">
            <a:avLst/>
          </a:prstGeom>
          <a:solidFill>
            <a:srgbClr val="EBF5FB"/>
          </a:solidFill>
          <a:ln w="25400">
            <a:solidFill>
              <a:srgbClr val="1A5276"/>
            </a:solidFill>
            <a:prstDash val="solid"/>
          </a:ln>
          <a:effectLst>
            <a:outerShdw sx="100000" sy="100000" kx="0" ky="0" algn="bl" rotWithShape="0" blurRad="101600" dist="38100" dir="8100000">
              <a:srgbClr val="000000">
                <a:alpha val="13000"/>
              </a:srgbClr>
            </a:outerShdw>
          </a:effectLst>
        </p:spPr>
      </p:sp>
      <p:sp>
        <p:nvSpPr>
          <p:cNvPr id="6" name="Shape 4"/>
          <p:cNvSpPr/>
          <p:nvPr/>
        </p:nvSpPr>
        <p:spPr>
          <a:xfrm>
            <a:off x="274320" y="1325880"/>
            <a:ext cx="457200" cy="1600200"/>
          </a:xfrm>
          <a:prstGeom prst="rect">
            <a:avLst/>
          </a:prstGeom>
          <a:solidFill>
            <a:srgbClr val="1A5276"/>
          </a:solidFill>
          <a:ln w="12700">
            <a:solidFill>
              <a:srgbClr val="1A5276"/>
            </a:solidFill>
            <a:prstDash val="solid"/>
          </a:ln>
        </p:spPr>
      </p:sp>
      <p:sp>
        <p:nvSpPr>
          <p:cNvPr id="7" name="Text 5"/>
          <p:cNvSpPr/>
          <p:nvPr/>
        </p:nvSpPr>
        <p:spPr>
          <a:xfrm>
            <a:off x="274320" y="18288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①</a:t>
            </a:r>
            <a:endParaRPr lang="en-US" sz="1800" dirty="0"/>
          </a:p>
        </p:txBody>
      </p:sp>
      <p:sp>
        <p:nvSpPr>
          <p:cNvPr id="8" name="Text 6"/>
          <p:cNvSpPr/>
          <p:nvPr/>
        </p:nvSpPr>
        <p:spPr>
          <a:xfrm>
            <a:off x="777240" y="13716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Embed Query</a:t>
            </a:r>
            <a:endParaRPr lang="en-US" sz="1200" dirty="0"/>
          </a:p>
        </p:txBody>
      </p:sp>
      <p:sp>
        <p:nvSpPr>
          <p:cNvPr id="9" name="Text 7"/>
          <p:cNvSpPr/>
          <p:nvPr/>
        </p:nvSpPr>
        <p:spPr>
          <a:xfrm>
            <a:off x="777240" y="17830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"What is Nociceptors?" → 384-dim vector via all-MiniLM-L6-v2</a:t>
            </a:r>
            <a:endParaRPr lang="en-US" sz="1050" dirty="0"/>
          </a:p>
        </p:txBody>
      </p:sp>
      <p:sp>
        <p:nvSpPr>
          <p:cNvPr id="10" name="Shape 8"/>
          <p:cNvSpPr/>
          <p:nvPr/>
        </p:nvSpPr>
        <p:spPr>
          <a:xfrm>
            <a:off x="3200400" y="1325880"/>
            <a:ext cx="2651760" cy="160020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3200400" y="1325880"/>
            <a:ext cx="457200" cy="1600200"/>
          </a:xfrm>
          <a:prstGeom prst="rect">
            <a:avLst/>
          </a:prstGeom>
          <a:solidFill>
            <a:srgbClr val="1C7293"/>
          </a:solidFill>
          <a:ln w="12700">
            <a:solidFill>
              <a:srgbClr val="1C7293"/>
            </a:solidFill>
            <a:prstDash val="solid"/>
          </a:ln>
        </p:spPr>
      </p:sp>
      <p:sp>
        <p:nvSpPr>
          <p:cNvPr id="12" name="Text 10"/>
          <p:cNvSpPr/>
          <p:nvPr/>
        </p:nvSpPr>
        <p:spPr>
          <a:xfrm>
            <a:off x="3200400" y="18288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②</a:t>
            </a:r>
            <a:endParaRPr lang="en-US" sz="1800" dirty="0"/>
          </a:p>
        </p:txBody>
      </p:sp>
      <p:sp>
        <p:nvSpPr>
          <p:cNvPr id="13" name="Text 11"/>
          <p:cNvSpPr/>
          <p:nvPr/>
        </p:nvSpPr>
        <p:spPr>
          <a:xfrm>
            <a:off x="3703320" y="13716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FAISS Retrieves 15 Chunks</a:t>
            </a:r>
            <a:endParaRPr lang="en-US" sz="1200" dirty="0"/>
          </a:p>
        </p:txBody>
      </p:sp>
      <p:sp>
        <p:nvSpPr>
          <p:cNvPr id="14" name="Text 12"/>
          <p:cNvSpPr/>
          <p:nvPr/>
        </p:nvSpPr>
        <p:spPr>
          <a:xfrm>
            <a:off x="3703320" y="17830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Finds 15 nearest text chunks from the 54 indexed chunks of Sample.pdf</a:t>
            </a:r>
            <a:endParaRPr lang="en-US" sz="1050" dirty="0"/>
          </a:p>
        </p:txBody>
      </p:sp>
      <p:sp>
        <p:nvSpPr>
          <p:cNvPr id="15" name="Shape 13"/>
          <p:cNvSpPr/>
          <p:nvPr/>
        </p:nvSpPr>
        <p:spPr>
          <a:xfrm>
            <a:off x="6126480" y="1325880"/>
            <a:ext cx="2651760" cy="1600200"/>
          </a:xfrm>
          <a:prstGeom prst="rect">
            <a:avLst/>
          </a:prstGeom>
          <a:solidFill>
            <a:srgbClr val="EBF5FB"/>
          </a:solidFill>
          <a:ln w="25400">
            <a:solidFill>
              <a:srgbClr val="00A896"/>
            </a:solidFill>
            <a:prstDash val="solid"/>
          </a:ln>
          <a:effectLst>
            <a:outerShdw sx="100000" sy="100000" kx="0" ky="0" algn="bl" rotWithShape="0" blurRad="101600" dist="38100" dir="8100000">
              <a:srgbClr val="000000">
                <a:alpha val="13000"/>
              </a:srgbClr>
            </a:outerShdw>
          </a:effectLst>
        </p:spPr>
      </p:sp>
      <p:sp>
        <p:nvSpPr>
          <p:cNvPr id="16" name="Shape 14"/>
          <p:cNvSpPr/>
          <p:nvPr/>
        </p:nvSpPr>
        <p:spPr>
          <a:xfrm>
            <a:off x="6126480" y="1325880"/>
            <a:ext cx="457200" cy="1600200"/>
          </a:xfrm>
          <a:prstGeom prst="rect">
            <a:avLst/>
          </a:prstGeom>
          <a:solidFill>
            <a:srgbClr val="00A896"/>
          </a:solidFill>
          <a:ln w="12700">
            <a:solidFill>
              <a:srgbClr val="00A896"/>
            </a:solidFill>
            <a:prstDash val="solid"/>
          </a:ln>
        </p:spPr>
      </p:sp>
      <p:sp>
        <p:nvSpPr>
          <p:cNvPr id="17" name="Text 15"/>
          <p:cNvSpPr/>
          <p:nvPr/>
        </p:nvSpPr>
        <p:spPr>
          <a:xfrm>
            <a:off x="6126480" y="18288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③</a:t>
            </a:r>
            <a:endParaRPr lang="en-US" sz="1800" dirty="0"/>
          </a:p>
        </p:txBody>
      </p:sp>
      <p:sp>
        <p:nvSpPr>
          <p:cNvPr id="18" name="Text 16"/>
          <p:cNvSpPr/>
          <p:nvPr/>
        </p:nvSpPr>
        <p:spPr>
          <a:xfrm>
            <a:off x="6629400" y="13716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CrossEncoder Reranks</a:t>
            </a:r>
            <a:endParaRPr lang="en-US" sz="1200" dirty="0"/>
          </a:p>
        </p:txBody>
      </p:sp>
      <p:sp>
        <p:nvSpPr>
          <p:cNvPr id="19" name="Text 17"/>
          <p:cNvSpPr/>
          <p:nvPr/>
        </p:nvSpPr>
        <p:spPr>
          <a:xfrm>
            <a:off x="6629400" y="17830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Scores each (question, chunk) pair → keeps top 7 chunks scored &gt; -5</a:t>
            </a:r>
            <a:endParaRPr lang="en-US" sz="1050" dirty="0"/>
          </a:p>
        </p:txBody>
      </p:sp>
      <p:sp>
        <p:nvSpPr>
          <p:cNvPr id="20" name="Shape 18"/>
          <p:cNvSpPr/>
          <p:nvPr/>
        </p:nvSpPr>
        <p:spPr>
          <a:xfrm>
            <a:off x="274320" y="3154680"/>
            <a:ext cx="2651760" cy="1600200"/>
          </a:xfrm>
          <a:prstGeom prst="rect">
            <a:avLst/>
          </a:prstGeom>
          <a:solidFill>
            <a:srgbClr val="EBF5FB"/>
          </a:solidFill>
          <a:ln w="25400">
            <a:solidFill>
              <a:srgbClr val="028090"/>
            </a:solidFill>
            <a:prstDash val="solid"/>
          </a:ln>
          <a:effectLst>
            <a:outerShdw sx="100000" sy="100000" kx="0" ky="0" algn="bl" rotWithShape="0" blurRad="101600" dist="38100" dir="8100000">
              <a:srgbClr val="000000">
                <a:alpha val="13000"/>
              </a:srgbClr>
            </a:outerShdw>
          </a:effectLst>
        </p:spPr>
      </p:sp>
      <p:sp>
        <p:nvSpPr>
          <p:cNvPr id="21" name="Shape 19"/>
          <p:cNvSpPr/>
          <p:nvPr/>
        </p:nvSpPr>
        <p:spPr>
          <a:xfrm>
            <a:off x="274320" y="3154680"/>
            <a:ext cx="457200" cy="1600200"/>
          </a:xfrm>
          <a:prstGeom prst="rect">
            <a:avLst/>
          </a:prstGeom>
          <a:solidFill>
            <a:srgbClr val="028090"/>
          </a:solidFill>
          <a:ln w="12700">
            <a:solidFill>
              <a:srgbClr val="028090"/>
            </a:solidFill>
            <a:prstDash val="solid"/>
          </a:ln>
        </p:spPr>
      </p:sp>
      <p:sp>
        <p:nvSpPr>
          <p:cNvPr id="22" name="Text 20"/>
          <p:cNvSpPr/>
          <p:nvPr/>
        </p:nvSpPr>
        <p:spPr>
          <a:xfrm>
            <a:off x="274320" y="36576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④</a:t>
            </a:r>
            <a:endParaRPr lang="en-US" sz="1800" dirty="0"/>
          </a:p>
        </p:txBody>
      </p:sp>
      <p:sp>
        <p:nvSpPr>
          <p:cNvPr id="23" name="Text 21"/>
          <p:cNvSpPr/>
          <p:nvPr/>
        </p:nvSpPr>
        <p:spPr>
          <a:xfrm>
            <a:off x="777240" y="32004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Page Numbers Identified</a:t>
            </a:r>
            <a:endParaRPr lang="en-US" sz="1200" dirty="0"/>
          </a:p>
        </p:txBody>
      </p:sp>
      <p:sp>
        <p:nvSpPr>
          <p:cNvPr id="24" name="Text 22"/>
          <p:cNvSpPr/>
          <p:nvPr/>
        </p:nvSpPr>
        <p:spPr>
          <a:xfrm>
            <a:off x="777240" y="36118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Top chunks came from pages 1 and 2 → matched_pages = {0, 1}</a:t>
            </a:r>
            <a:endParaRPr lang="en-US" sz="1050" dirty="0"/>
          </a:p>
        </p:txBody>
      </p:sp>
      <p:sp>
        <p:nvSpPr>
          <p:cNvPr id="25" name="Shape 23"/>
          <p:cNvSpPr/>
          <p:nvPr/>
        </p:nvSpPr>
        <p:spPr>
          <a:xfrm>
            <a:off x="3200400" y="3154680"/>
            <a:ext cx="2651760" cy="1600200"/>
          </a:xfrm>
          <a:prstGeom prst="rect">
            <a:avLst/>
          </a:prstGeom>
          <a:solidFill>
            <a:srgbClr val="EBF5FB"/>
          </a:solidFill>
          <a:ln w="25400">
            <a:solidFill>
              <a:srgbClr val="1C7293"/>
            </a:solidFill>
            <a:prstDash val="solid"/>
          </a:ln>
          <a:effectLst>
            <a:outerShdw sx="100000" sy="100000" kx="0" ky="0" algn="bl" rotWithShape="0" blurRad="101600" dist="38100" dir="8100000">
              <a:srgbClr val="000000">
                <a:alpha val="13000"/>
              </a:srgbClr>
            </a:outerShdw>
          </a:effectLst>
        </p:spPr>
      </p:sp>
      <p:sp>
        <p:nvSpPr>
          <p:cNvPr id="26" name="Shape 24"/>
          <p:cNvSpPr/>
          <p:nvPr/>
        </p:nvSpPr>
        <p:spPr>
          <a:xfrm>
            <a:off x="3200400" y="3154680"/>
            <a:ext cx="457200" cy="1600200"/>
          </a:xfrm>
          <a:prstGeom prst="rect">
            <a:avLst/>
          </a:prstGeom>
          <a:solidFill>
            <a:srgbClr val="1C7293"/>
          </a:solidFill>
          <a:ln w="12700">
            <a:solidFill>
              <a:srgbClr val="1C7293"/>
            </a:solidFill>
            <a:prstDash val="solid"/>
          </a:ln>
        </p:spPr>
      </p:sp>
      <p:sp>
        <p:nvSpPr>
          <p:cNvPr id="27" name="Text 25"/>
          <p:cNvSpPr/>
          <p:nvPr/>
        </p:nvSpPr>
        <p:spPr>
          <a:xfrm>
            <a:off x="3200400" y="36576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⑤</a:t>
            </a:r>
            <a:endParaRPr lang="en-US" sz="1800" dirty="0"/>
          </a:p>
        </p:txBody>
      </p:sp>
      <p:sp>
        <p:nvSpPr>
          <p:cNvPr id="28" name="Text 26"/>
          <p:cNvSpPr/>
          <p:nvPr/>
        </p:nvSpPr>
        <p:spPr>
          <a:xfrm>
            <a:off x="3703320" y="32004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Table + Image Retrieved</a:t>
            </a:r>
            <a:endParaRPr lang="en-US" sz="1200" dirty="0"/>
          </a:p>
        </p:txBody>
      </p:sp>
      <p:sp>
        <p:nvSpPr>
          <p:cNvPr id="29" name="Text 27"/>
          <p:cNvSpPr/>
          <p:nvPr/>
        </p:nvSpPr>
        <p:spPr>
          <a:xfrm>
            <a:off x="3703320" y="36118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Table from page 0 and image from page 1 pulled — only from matched pages</a:t>
            </a:r>
            <a:endParaRPr lang="en-US" sz="1050" dirty="0"/>
          </a:p>
        </p:txBody>
      </p:sp>
      <p:sp>
        <p:nvSpPr>
          <p:cNvPr id="30" name="Shape 28"/>
          <p:cNvSpPr/>
          <p:nvPr/>
        </p:nvSpPr>
        <p:spPr>
          <a:xfrm>
            <a:off x="6126480" y="3154680"/>
            <a:ext cx="2651760" cy="1600200"/>
          </a:xfrm>
          <a:prstGeom prst="rect">
            <a:avLst/>
          </a:prstGeom>
          <a:solidFill>
            <a:srgbClr val="EBF5FB"/>
          </a:solidFill>
          <a:ln w="25400">
            <a:solidFill>
              <a:srgbClr val="1A5276"/>
            </a:solidFill>
            <a:prstDash val="solid"/>
          </a:ln>
          <a:effectLst>
            <a:outerShdw sx="100000" sy="100000" kx="0" ky="0" algn="bl" rotWithShape="0" blurRad="101600" dist="38100" dir="8100000">
              <a:srgbClr val="000000">
                <a:alpha val="13000"/>
              </a:srgbClr>
            </a:outerShdw>
          </a:effectLst>
        </p:spPr>
      </p:sp>
      <p:sp>
        <p:nvSpPr>
          <p:cNvPr id="31" name="Shape 29"/>
          <p:cNvSpPr/>
          <p:nvPr/>
        </p:nvSpPr>
        <p:spPr>
          <a:xfrm>
            <a:off x="6126480" y="3154680"/>
            <a:ext cx="457200" cy="1600200"/>
          </a:xfrm>
          <a:prstGeom prst="rect">
            <a:avLst/>
          </a:prstGeom>
          <a:solidFill>
            <a:srgbClr val="1A5276"/>
          </a:solidFill>
          <a:ln w="12700">
            <a:solidFill>
              <a:srgbClr val="1A5276"/>
            </a:solidFill>
            <a:prstDash val="solid"/>
          </a:ln>
        </p:spPr>
      </p:sp>
      <p:sp>
        <p:nvSpPr>
          <p:cNvPr id="32" name="Text 30"/>
          <p:cNvSpPr/>
          <p:nvPr/>
        </p:nvSpPr>
        <p:spPr>
          <a:xfrm>
            <a:off x="6126480" y="36576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⑥</a:t>
            </a:r>
            <a:endParaRPr lang="en-US" sz="1800" dirty="0"/>
          </a:p>
        </p:txBody>
      </p:sp>
      <p:sp>
        <p:nvSpPr>
          <p:cNvPr id="33" name="Text 31"/>
          <p:cNvSpPr/>
          <p:nvPr/>
        </p:nvSpPr>
        <p:spPr>
          <a:xfrm>
            <a:off x="6629400" y="3200400"/>
            <a:ext cx="2103120" cy="41148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Ollama Generates Answer</a:t>
            </a:r>
            <a:endParaRPr lang="en-US" sz="1200" dirty="0"/>
          </a:p>
        </p:txBody>
      </p:sp>
      <p:sp>
        <p:nvSpPr>
          <p:cNvPr id="34" name="Text 32"/>
          <p:cNvSpPr/>
          <p:nvPr/>
        </p:nvSpPr>
        <p:spPr>
          <a:xfrm>
            <a:off x="6629400" y="3611880"/>
            <a:ext cx="2103120" cy="1051560"/>
          </a:xfrm>
          <a:prstGeom prst="rect">
            <a:avLst/>
          </a:prstGeom>
          <a:noFill/>
          <a:ln/>
        </p:spPr>
        <p:txBody>
          <a:bodyPr wrap="square" rtlCol="0" anchor="ctr"/>
          <a:lstStyle/>
          <a:p>
            <a:pPr indent="0" marL="0">
              <a:buNone/>
            </a:pPr>
            <a:r>
              <a:rPr lang="en-US" sz="1050" dirty="0">
                <a:solidFill>
                  <a:srgbClr val="1A3040"/>
                </a:solidFill>
                <a:latin typeface="Calibri" pitchFamily="34" charset="0"/>
                <a:ea typeface="Calibri" pitchFamily="34" charset="-122"/>
                <a:cs typeface="Calibri" pitchFamily="34" charset="-120"/>
              </a:rPr>
              <a:t>llama3.2 receives context + question → outputs: 'Nociceptors are sensory neurons...'</a:t>
            </a:r>
            <a:endParaRPr lang="en-US" sz="1050" dirty="0"/>
          </a:p>
        </p:txBody>
      </p:sp>
      <p:sp>
        <p:nvSpPr>
          <p:cNvPr id="35" name="Shape 33"/>
          <p:cNvSpPr/>
          <p:nvPr/>
        </p:nvSpPr>
        <p:spPr>
          <a:xfrm>
            <a:off x="274320" y="4681728"/>
            <a:ext cx="8595360" cy="347472"/>
          </a:xfrm>
          <a:prstGeom prst="rect">
            <a:avLst/>
          </a:prstGeom>
          <a:solidFill>
            <a:srgbClr val="00A896">
              <a:alpha val="80000"/>
            </a:srgbClr>
          </a:solidFill>
          <a:ln w="12700">
            <a:solidFill>
              <a:srgbClr val="00A896"/>
            </a:solidFill>
            <a:prstDash val="solid"/>
          </a:ln>
        </p:spPr>
      </p:sp>
      <p:sp>
        <p:nvSpPr>
          <p:cNvPr id="36" name="Text 34"/>
          <p:cNvSpPr/>
          <p:nvPr/>
        </p:nvSpPr>
        <p:spPr>
          <a:xfrm>
            <a:off x="457200" y="4727448"/>
            <a:ext cx="8229600" cy="256032"/>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  Result: Detailed text answer + relevant table + relevant image all shown in the Gradio chat window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C7293"/>
          </a:solidFill>
          <a:ln w="12700">
            <a:solidFill>
              <a:srgbClr val="1C7293"/>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Concepts &amp; Takeaways</a:t>
            </a:r>
            <a:endParaRPr lang="en-US" sz="2600" dirty="0"/>
          </a:p>
        </p:txBody>
      </p:sp>
      <p:sp>
        <p:nvSpPr>
          <p:cNvPr id="4" name="Shape 2"/>
          <p:cNvSpPr/>
          <p:nvPr/>
        </p:nvSpPr>
        <p:spPr>
          <a:xfrm>
            <a:off x="274320" y="8229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5" name="Text 3"/>
          <p:cNvSpPr/>
          <p:nvPr/>
        </p:nvSpPr>
        <p:spPr>
          <a:xfrm>
            <a:off x="384048" y="9144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Semantic Chunking</a:t>
            </a:r>
            <a:endParaRPr lang="en-US" sz="1300" dirty="0"/>
          </a:p>
        </p:txBody>
      </p:sp>
      <p:sp>
        <p:nvSpPr>
          <p:cNvPr id="6" name="Text 4"/>
          <p:cNvSpPr/>
          <p:nvPr/>
        </p:nvSpPr>
        <p:spPr>
          <a:xfrm>
            <a:off x="384048" y="13533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Groups sentences by topic similarity (cosine ≥ 0.45) — not by word count. Produces coherent, meaningful search units.</a:t>
            </a:r>
            <a:endParaRPr lang="en-US" sz="1050" dirty="0"/>
          </a:p>
        </p:txBody>
      </p:sp>
      <p:sp>
        <p:nvSpPr>
          <p:cNvPr id="7" name="Shape 5"/>
          <p:cNvSpPr/>
          <p:nvPr/>
        </p:nvSpPr>
        <p:spPr>
          <a:xfrm>
            <a:off x="3200400" y="8229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8" name="Text 6"/>
          <p:cNvSpPr/>
          <p:nvPr/>
        </p:nvSpPr>
        <p:spPr>
          <a:xfrm>
            <a:off x="3310128" y="9144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Page-Aware Retrieval</a:t>
            </a:r>
            <a:endParaRPr lang="en-US" sz="1300" dirty="0"/>
          </a:p>
        </p:txBody>
      </p:sp>
      <p:sp>
        <p:nvSpPr>
          <p:cNvPr id="9" name="Text 7"/>
          <p:cNvSpPr/>
          <p:nvPr/>
        </p:nvSpPr>
        <p:spPr>
          <a:xfrm>
            <a:off x="3310128" y="13533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Tables and images are only retrieved when the matched text chunk came from the same page — no irrelevant media shown.</a:t>
            </a:r>
            <a:endParaRPr lang="en-US" sz="1050" dirty="0"/>
          </a:p>
        </p:txBody>
      </p:sp>
      <p:sp>
        <p:nvSpPr>
          <p:cNvPr id="10" name="Shape 8"/>
          <p:cNvSpPr/>
          <p:nvPr/>
        </p:nvSpPr>
        <p:spPr>
          <a:xfrm>
            <a:off x="6126480" y="8229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6236208" y="9144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Two-Stage Retrieval</a:t>
            </a:r>
            <a:endParaRPr lang="en-US" sz="1300" dirty="0"/>
          </a:p>
        </p:txBody>
      </p:sp>
      <p:sp>
        <p:nvSpPr>
          <p:cNvPr id="12" name="Text 10"/>
          <p:cNvSpPr/>
          <p:nvPr/>
        </p:nvSpPr>
        <p:spPr>
          <a:xfrm>
            <a:off x="6236208" y="13533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FAISS finds 15 candidates fast. CrossEncoder reranks them accurately. Speed + precision combined.</a:t>
            </a:r>
            <a:endParaRPr lang="en-US" sz="1050" dirty="0"/>
          </a:p>
        </p:txBody>
      </p:sp>
      <p:sp>
        <p:nvSpPr>
          <p:cNvPr id="13" name="Shape 11"/>
          <p:cNvSpPr/>
          <p:nvPr/>
        </p:nvSpPr>
        <p:spPr>
          <a:xfrm>
            <a:off x="274320" y="28803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14" name="Text 12"/>
          <p:cNvSpPr/>
          <p:nvPr/>
        </p:nvSpPr>
        <p:spPr>
          <a:xfrm>
            <a:off x="384048" y="29718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Multimodal Indexing</a:t>
            </a:r>
            <a:endParaRPr lang="en-US" sz="1300" dirty="0"/>
          </a:p>
        </p:txBody>
      </p:sp>
      <p:sp>
        <p:nvSpPr>
          <p:cNvPr id="15" name="Text 13"/>
          <p:cNvSpPr/>
          <p:nvPr/>
        </p:nvSpPr>
        <p:spPr>
          <a:xfrm>
            <a:off x="384048" y="34107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Three separate FAISS indices: text (384-dim), tables (384-dim), images (512-dim CLIP). Different models for different data.</a:t>
            </a:r>
            <a:endParaRPr lang="en-US" sz="1050" dirty="0"/>
          </a:p>
        </p:txBody>
      </p:sp>
      <p:sp>
        <p:nvSpPr>
          <p:cNvPr id="16" name="Shape 14"/>
          <p:cNvSpPr/>
          <p:nvPr/>
        </p:nvSpPr>
        <p:spPr>
          <a:xfrm>
            <a:off x="3200400" y="28803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3310128" y="29718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100% Local</a:t>
            </a:r>
            <a:endParaRPr lang="en-US" sz="1300" dirty="0"/>
          </a:p>
        </p:txBody>
      </p:sp>
      <p:sp>
        <p:nvSpPr>
          <p:cNvPr id="18" name="Text 16"/>
          <p:cNvSpPr/>
          <p:nvPr/>
        </p:nvSpPr>
        <p:spPr>
          <a:xfrm>
            <a:off x="3310128" y="34107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All models run on your machine. No data sent to OpenAI, Anthropic, or any API. Fully private.</a:t>
            </a:r>
            <a:endParaRPr lang="en-US" sz="1050" dirty="0"/>
          </a:p>
        </p:txBody>
      </p:sp>
      <p:sp>
        <p:nvSpPr>
          <p:cNvPr id="19" name="Shape 17"/>
          <p:cNvSpPr/>
          <p:nvPr/>
        </p:nvSpPr>
        <p:spPr>
          <a:xfrm>
            <a:off x="6126480" y="2880360"/>
            <a:ext cx="2651760" cy="1828800"/>
          </a:xfrm>
          <a:prstGeom prst="rect">
            <a:avLst/>
          </a:prstGeom>
          <a:solidFill>
            <a:srgbClr val="0A2A3A"/>
          </a:solidFill>
          <a:ln w="19050">
            <a:solidFill>
              <a:srgbClr val="00A896"/>
            </a:solidFill>
            <a:prstDash val="solid"/>
          </a:ln>
          <a:effectLst>
            <a:outerShdw sx="100000" sy="100000" kx="0" ky="0" algn="bl" rotWithShape="0" blurRad="101600" dist="38100" dir="8100000">
              <a:srgbClr val="000000">
                <a:alpha val="13000"/>
              </a:srgbClr>
            </a:outerShdw>
          </a:effectLst>
        </p:spPr>
      </p:sp>
      <p:sp>
        <p:nvSpPr>
          <p:cNvPr id="20" name="Text 18"/>
          <p:cNvSpPr/>
          <p:nvPr/>
        </p:nvSpPr>
        <p:spPr>
          <a:xfrm>
            <a:off x="6236208" y="2971800"/>
            <a:ext cx="2468880" cy="411480"/>
          </a:xfrm>
          <a:prstGeom prst="rect">
            <a:avLst/>
          </a:prstGeom>
          <a:noFill/>
          <a:ln/>
        </p:spPr>
        <p:txBody>
          <a:bodyPr wrap="square" rtlCol="0" anchor="ctr"/>
          <a:lstStyle/>
          <a:p>
            <a:pPr indent="0" marL="0">
              <a:buNone/>
            </a:pPr>
            <a:r>
              <a:rPr lang="en-US" sz="1300" b="1" dirty="0">
                <a:solidFill>
                  <a:srgbClr val="F4D03F"/>
                </a:solidFill>
                <a:latin typeface="Calibri" pitchFamily="34" charset="0"/>
                <a:ea typeface="Calibri" pitchFamily="34" charset="-122"/>
                <a:cs typeface="Calibri" pitchFamily="34" charset="-120"/>
              </a:rPr>
              <a:t>🔧  Gradio 5/6 Fix</a:t>
            </a:r>
            <a:endParaRPr lang="en-US" sz="1300" dirty="0"/>
          </a:p>
        </p:txBody>
      </p:sp>
      <p:sp>
        <p:nvSpPr>
          <p:cNvPr id="21" name="Text 19"/>
          <p:cNvSpPr/>
          <p:nvPr/>
        </p:nvSpPr>
        <p:spPr>
          <a:xfrm>
            <a:off x="6236208" y="3410712"/>
            <a:ext cx="2468880" cy="11887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theme → gr.Blocks(). title → gr.Blocks(). description → gr.Markdown(). Delete retry_btn, undo_btn, clear_btn.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C7293">
              <a:alpha val="20000"/>
            </a:srgbClr>
          </a:solidFill>
          <a:ln w="12700">
            <a:solidFill>
              <a:srgbClr val="1C7293">
                <a:alpha val="20000"/>
              </a:srgbClr>
            </a:solidFill>
            <a:prstDash val="solid"/>
          </a:ln>
        </p:spPr>
      </p:sp>
      <p:sp>
        <p:nvSpPr>
          <p:cNvPr id="3" name="Shape 1"/>
          <p:cNvSpPr/>
          <p:nvPr/>
        </p:nvSpPr>
        <p:spPr>
          <a:xfrm>
            <a:off x="6400800" y="2743200"/>
            <a:ext cx="3657600" cy="3657600"/>
          </a:xfrm>
          <a:prstGeom prst="ellipse">
            <a:avLst/>
          </a:prstGeom>
          <a:solidFill>
            <a:srgbClr val="00A896">
              <a:alpha val="20000"/>
            </a:srgbClr>
          </a:solidFill>
          <a:ln w="12700">
            <a:solidFill>
              <a:srgbClr val="00A896">
                <a:alpha val="20000"/>
              </a:srgbClr>
            </a:solidFill>
            <a:prstDash val="solid"/>
          </a:ln>
        </p:spPr>
      </p:sp>
      <p:sp>
        <p:nvSpPr>
          <p:cNvPr id="4" name="Text 2"/>
          <p:cNvSpPr/>
          <p:nvPr/>
        </p:nvSpPr>
        <p:spPr>
          <a:xfrm>
            <a:off x="3200400" y="457200"/>
            <a:ext cx="2743200" cy="1097280"/>
          </a:xfrm>
          <a:prstGeom prst="rect">
            <a:avLst/>
          </a:prstGeom>
          <a:noFill/>
          <a:ln/>
        </p:spPr>
        <p:txBody>
          <a:bodyPr wrap="square"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a:t>
            </a:r>
            <a:endParaRPr lang="en-US" sz="6000" dirty="0"/>
          </a:p>
        </p:txBody>
      </p:sp>
      <p:sp>
        <p:nvSpPr>
          <p:cNvPr id="5" name="Text 3"/>
          <p:cNvSpPr/>
          <p:nvPr/>
        </p:nvSpPr>
        <p:spPr>
          <a:xfrm>
            <a:off x="914400" y="1463040"/>
            <a:ext cx="7315200" cy="73152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Multimodal RAG Chatbot</a:t>
            </a:r>
            <a:endParaRPr lang="en-US" sz="3400" dirty="0"/>
          </a:p>
        </p:txBody>
      </p:sp>
      <p:sp>
        <p:nvSpPr>
          <p:cNvPr id="6" name="Text 4"/>
          <p:cNvSpPr/>
          <p:nvPr/>
        </p:nvSpPr>
        <p:spPr>
          <a:xfrm>
            <a:off x="914400" y="2194560"/>
            <a:ext cx="7315200" cy="502920"/>
          </a:xfrm>
          <a:prstGeom prst="rect">
            <a:avLst/>
          </a:prstGeom>
          <a:noFill/>
          <a:ln/>
        </p:spPr>
        <p:txBody>
          <a:bodyPr wrap="square" rtlCol="0" anchor="ctr"/>
          <a:lstStyle/>
          <a:p>
            <a:pPr algn="ctr" indent="0" marL="0">
              <a:buNone/>
            </a:pPr>
            <a:r>
              <a:rPr lang="en-US" sz="1800" i="1" dirty="0">
                <a:solidFill>
                  <a:srgbClr val="00A896"/>
                </a:solidFill>
                <a:latin typeface="Calibri" pitchFamily="34" charset="0"/>
                <a:ea typeface="Calibri" pitchFamily="34" charset="-122"/>
                <a:cs typeface="Calibri" pitchFamily="34" charset="-120"/>
              </a:rPr>
              <a:t>Your documents. Your machine. Your answers.</a:t>
            </a:r>
            <a:endParaRPr lang="en-US" sz="1800" dirty="0"/>
          </a:p>
        </p:txBody>
      </p:sp>
      <p:sp>
        <p:nvSpPr>
          <p:cNvPr id="7" name="Shape 5"/>
          <p:cNvSpPr/>
          <p:nvPr/>
        </p:nvSpPr>
        <p:spPr>
          <a:xfrm>
            <a:off x="2286000" y="2880360"/>
            <a:ext cx="4572000" cy="36576"/>
          </a:xfrm>
          <a:prstGeom prst="rect">
            <a:avLst/>
          </a:prstGeom>
          <a:solidFill>
            <a:srgbClr val="00A896"/>
          </a:solidFill>
          <a:ln w="12700">
            <a:solidFill>
              <a:srgbClr val="00A896"/>
            </a:solidFill>
            <a:prstDash val="solid"/>
          </a:ln>
        </p:spPr>
      </p:sp>
      <p:sp>
        <p:nvSpPr>
          <p:cNvPr id="8" name="Shape 6"/>
          <p:cNvSpPr/>
          <p:nvPr/>
        </p:nvSpPr>
        <p:spPr>
          <a:xfrm>
            <a:off x="457200" y="3108960"/>
            <a:ext cx="1463040" cy="502920"/>
          </a:xfrm>
          <a:prstGeom prst="rect">
            <a:avLst/>
          </a:prstGeom>
          <a:solidFill>
            <a:srgbClr val="1C7293">
              <a:alpha val="70000"/>
            </a:srgbClr>
          </a:solidFill>
          <a:ln w="12700">
            <a:solidFill>
              <a:srgbClr val="00A896"/>
            </a:solidFill>
            <a:prstDash val="solid"/>
          </a:ln>
        </p:spPr>
      </p:sp>
      <p:sp>
        <p:nvSpPr>
          <p:cNvPr id="9" name="Text 7"/>
          <p:cNvSpPr/>
          <p:nvPr/>
        </p:nvSpPr>
        <p:spPr>
          <a:xfrm>
            <a:off x="457200" y="3154680"/>
            <a:ext cx="146304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Ollama llama3.2</a:t>
            </a:r>
            <a:endParaRPr lang="en-US" sz="1000" dirty="0"/>
          </a:p>
        </p:txBody>
      </p:sp>
      <p:sp>
        <p:nvSpPr>
          <p:cNvPr id="10" name="Shape 8"/>
          <p:cNvSpPr/>
          <p:nvPr/>
        </p:nvSpPr>
        <p:spPr>
          <a:xfrm>
            <a:off x="2121408" y="3108960"/>
            <a:ext cx="1463040" cy="502920"/>
          </a:xfrm>
          <a:prstGeom prst="rect">
            <a:avLst/>
          </a:prstGeom>
          <a:solidFill>
            <a:srgbClr val="1C7293">
              <a:alpha val="70000"/>
            </a:srgbClr>
          </a:solidFill>
          <a:ln w="12700">
            <a:solidFill>
              <a:srgbClr val="00A896"/>
            </a:solidFill>
            <a:prstDash val="solid"/>
          </a:ln>
        </p:spPr>
      </p:sp>
      <p:sp>
        <p:nvSpPr>
          <p:cNvPr id="11" name="Text 9"/>
          <p:cNvSpPr/>
          <p:nvPr/>
        </p:nvSpPr>
        <p:spPr>
          <a:xfrm>
            <a:off x="2121408" y="3154680"/>
            <a:ext cx="146304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CLIP ViT-B/32</a:t>
            </a:r>
            <a:endParaRPr lang="en-US" sz="1000" dirty="0"/>
          </a:p>
        </p:txBody>
      </p:sp>
      <p:sp>
        <p:nvSpPr>
          <p:cNvPr id="12" name="Shape 10"/>
          <p:cNvSpPr/>
          <p:nvPr/>
        </p:nvSpPr>
        <p:spPr>
          <a:xfrm>
            <a:off x="3785616" y="3108960"/>
            <a:ext cx="1463040" cy="502920"/>
          </a:xfrm>
          <a:prstGeom prst="rect">
            <a:avLst/>
          </a:prstGeom>
          <a:solidFill>
            <a:srgbClr val="1C7293">
              <a:alpha val="70000"/>
            </a:srgbClr>
          </a:solidFill>
          <a:ln w="12700">
            <a:solidFill>
              <a:srgbClr val="00A896"/>
            </a:solidFill>
            <a:prstDash val="solid"/>
          </a:ln>
        </p:spPr>
      </p:sp>
      <p:sp>
        <p:nvSpPr>
          <p:cNvPr id="13" name="Text 11"/>
          <p:cNvSpPr/>
          <p:nvPr/>
        </p:nvSpPr>
        <p:spPr>
          <a:xfrm>
            <a:off x="3785616" y="3154680"/>
            <a:ext cx="146304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FAISS</a:t>
            </a:r>
            <a:endParaRPr lang="en-US" sz="1000" dirty="0"/>
          </a:p>
        </p:txBody>
      </p:sp>
      <p:sp>
        <p:nvSpPr>
          <p:cNvPr id="14" name="Shape 12"/>
          <p:cNvSpPr/>
          <p:nvPr/>
        </p:nvSpPr>
        <p:spPr>
          <a:xfrm>
            <a:off x="5449824" y="3108960"/>
            <a:ext cx="1463040" cy="502920"/>
          </a:xfrm>
          <a:prstGeom prst="rect">
            <a:avLst/>
          </a:prstGeom>
          <a:solidFill>
            <a:srgbClr val="1C7293">
              <a:alpha val="70000"/>
            </a:srgbClr>
          </a:solidFill>
          <a:ln w="12700">
            <a:solidFill>
              <a:srgbClr val="00A896"/>
            </a:solidFill>
            <a:prstDash val="solid"/>
          </a:ln>
        </p:spPr>
      </p:sp>
      <p:sp>
        <p:nvSpPr>
          <p:cNvPr id="15" name="Text 13"/>
          <p:cNvSpPr/>
          <p:nvPr/>
        </p:nvSpPr>
        <p:spPr>
          <a:xfrm>
            <a:off x="5449824" y="3154680"/>
            <a:ext cx="146304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Gradio 5/6</a:t>
            </a:r>
            <a:endParaRPr lang="en-US" sz="1000" dirty="0"/>
          </a:p>
        </p:txBody>
      </p:sp>
      <p:sp>
        <p:nvSpPr>
          <p:cNvPr id="16" name="Shape 14"/>
          <p:cNvSpPr/>
          <p:nvPr/>
        </p:nvSpPr>
        <p:spPr>
          <a:xfrm>
            <a:off x="7114032" y="3108960"/>
            <a:ext cx="1463040" cy="502920"/>
          </a:xfrm>
          <a:prstGeom prst="rect">
            <a:avLst/>
          </a:prstGeom>
          <a:solidFill>
            <a:srgbClr val="1C7293">
              <a:alpha val="70000"/>
            </a:srgbClr>
          </a:solidFill>
          <a:ln w="12700">
            <a:solidFill>
              <a:srgbClr val="00A896"/>
            </a:solidFill>
            <a:prstDash val="solid"/>
          </a:ln>
        </p:spPr>
      </p:sp>
      <p:sp>
        <p:nvSpPr>
          <p:cNvPr id="17" name="Text 15"/>
          <p:cNvSpPr/>
          <p:nvPr/>
        </p:nvSpPr>
        <p:spPr>
          <a:xfrm>
            <a:off x="7114032" y="3154680"/>
            <a:ext cx="146304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sentence-transformers</a:t>
            </a:r>
            <a:endParaRPr lang="en-US" sz="1000" dirty="0"/>
          </a:p>
        </p:txBody>
      </p:sp>
      <p:sp>
        <p:nvSpPr>
          <p:cNvPr id="18" name="Text 16"/>
          <p:cNvSpPr/>
          <p:nvPr/>
        </p:nvSpPr>
        <p:spPr>
          <a:xfrm>
            <a:off x="914400" y="3931920"/>
            <a:ext cx="7315200" cy="731520"/>
          </a:xfrm>
          <a:prstGeom prst="rect">
            <a:avLst/>
          </a:prstGeom>
          <a:noFill/>
          <a:ln/>
        </p:spPr>
        <p:txBody>
          <a:bodyPr wrap="square" rtlCol="0" anchor="ctr"/>
          <a:lstStyle/>
          <a:p>
            <a:pPr algn="ctr" indent="0" marL="0">
              <a:buNone/>
            </a:pPr>
            <a:r>
              <a:rPr lang="en-US" sz="4000" b="1" dirty="0">
                <a:solidFill>
                  <a:srgbClr val="F4D03F"/>
                </a:solidFill>
                <a:latin typeface="Calibri" pitchFamily="34" charset="0"/>
                <a:ea typeface="Calibri" pitchFamily="34" charset="-122"/>
                <a:cs typeface="Calibri"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RAG Chatbot — How It Works</dc:title>
  <dc:subject>PptxGenJS Presentation</dc:subject>
  <dc:creator>RAG Chatbot Presentation</dc:creator>
  <cp:lastModifiedBy>RAG Chatbot Presentation</cp:lastModifiedBy>
  <cp:revision>1</cp:revision>
  <dcterms:created xsi:type="dcterms:W3CDTF">2026-04-15T14:25:39Z</dcterms:created>
  <dcterms:modified xsi:type="dcterms:W3CDTF">2026-04-15T14:25:39Z</dcterms:modified>
</cp:coreProperties>
</file>