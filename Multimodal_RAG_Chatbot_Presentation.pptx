
<file path=[Content_Types].xml><?xml version="1.0" encoding="utf-8"?>
<Types xmlns="http://schemas.openxmlformats.org/package/2006/content-types"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  <p:sldId id="271" r:id="rId17"/>
    <p:sldId id="272" r:id="rId18"/>
  </p:sldIdLst>
  <p:sldSz cx="12192000" cy="6858000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 snapToGrid="0" snapToObjects="1">
      <p:cViewPr>
        <p:scale>
          <a:sx n="71" d="100"/>
          <a:sy n="71" d="100"/>
        </p:scale>
        <p:origin x="-456" y="208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3" Type="http://schemas.openxmlformats.org/officeDocument/2006/relationships/slide" Target="slides/slide2.xml"/><Relationship Id="rId21" Type="http://schemas.openxmlformats.org/officeDocument/2006/relationships/theme" Target="theme/theme1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viewProps" Target="view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10" Type="http://schemas.openxmlformats.org/officeDocument/2006/relationships/slide" Target="slides/slide9.xml"/><Relationship Id="rId19" Type="http://schemas.openxmlformats.org/officeDocument/2006/relationships/presProps" Target="presProps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tableStyles" Target="tableStyle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4/2/2026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4/2/2026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4/2/2026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4/2/2026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4/2/2026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4/2/2026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4/2/2026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4/2/2026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4/2/2026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4/2/2026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4/2/2026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4/2/2026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1E276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914400" y="1371600"/>
            <a:ext cx="10058400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4400" b="1">
                <a:solidFill>
                  <a:srgbClr val="FFFFFF"/>
                </a:solidFill>
                <a:latin typeface="Calibri"/>
              </a:defRPr>
            </a:pPr>
            <a:r>
              <a:t>Multimodal RAG PDF Chatbot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914400" y="2926080"/>
            <a:ext cx="1005840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2200" b="0">
                <a:solidFill>
                  <a:srgbClr val="CADCFC"/>
                </a:solidFill>
                <a:latin typeface="Calibri"/>
              </a:defRPr>
            </a:pPr>
            <a:r>
              <a:t>Step-by-Step Code Explanation with Architecture &amp; Examples</a:t>
            </a:r>
          </a:p>
        </p:txBody>
      </p:sp>
      <p:sp>
        <p:nvSpPr>
          <p:cNvPr id="4" name="Rectangle 3"/>
          <p:cNvSpPr/>
          <p:nvPr/>
        </p:nvSpPr>
        <p:spPr>
          <a:xfrm>
            <a:off x="4114800" y="4114800"/>
            <a:ext cx="3657600" cy="38100"/>
          </a:xfrm>
          <a:prstGeom prst="rect">
            <a:avLst/>
          </a:prstGeom>
          <a:solidFill>
            <a:srgbClr val="00A89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TextBox 4"/>
          <p:cNvSpPr txBox="1"/>
          <p:nvPr/>
        </p:nvSpPr>
        <p:spPr>
          <a:xfrm>
            <a:off x="914400" y="4572000"/>
            <a:ext cx="10058400" cy="33855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600" b="0">
                <a:solidFill>
                  <a:srgbClr val="CADCFC"/>
                </a:solidFill>
                <a:latin typeface="Calibri"/>
              </a:defRPr>
            </a:pPr>
            <a:r>
              <a:rPr lang="en-US" dirty="0" smtClean="0"/>
              <a:t>Harsha</a:t>
            </a:r>
            <a:r>
              <a:rPr dirty="0" smtClean="0"/>
              <a:t>|  </a:t>
            </a:r>
            <a:r>
              <a:rPr dirty="0"/>
              <a:t>April 2026</a:t>
            </a: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1097280"/>
          </a:xfrm>
          <a:prstGeom prst="rect">
            <a:avLst/>
          </a:prstGeom>
          <a:solidFill>
            <a:srgbClr val="1E276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731520" y="228600"/>
            <a:ext cx="100584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3600" b="1">
                <a:solidFill>
                  <a:srgbClr val="FFFFFF"/>
                </a:solidFill>
                <a:latin typeface="Calibri"/>
              </a:defRPr>
            </a:pPr>
            <a:r>
              <a:t>Agenda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371600" y="1645920"/>
            <a:ext cx="9144000" cy="3657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2200">
                <a:solidFill>
                  <a:srgbClr val="2D2D2D"/>
                </a:solidFill>
                <a:latin typeface="Calibri"/>
              </a:defRPr>
            </a:pPr>
            <a:r>
              <a:t>1.  What is a Multimodal RAG Chatbot?</a:t>
            </a:r>
          </a:p>
          <a:p>
            <a:pPr>
              <a:spcAft>
                <a:spcPts val="800"/>
              </a:spcAft>
              <a:defRPr sz="2200">
                <a:solidFill>
                  <a:srgbClr val="2D2D2D"/>
                </a:solidFill>
                <a:latin typeface="Calibri"/>
              </a:defRPr>
            </a:pPr>
            <a:r>
              <a:t>2.  Architecture &amp; Data Flow</a:t>
            </a:r>
          </a:p>
          <a:p>
            <a:pPr>
              <a:spcAft>
                <a:spcPts val="800"/>
              </a:spcAft>
              <a:defRPr sz="2200">
                <a:solidFill>
                  <a:srgbClr val="2D2D2D"/>
                </a:solidFill>
                <a:latin typeface="Calibri"/>
              </a:defRPr>
            </a:pPr>
            <a:r>
              <a:t>3.  Step-by-Step Code Walkthrough (11 Steps)</a:t>
            </a:r>
          </a:p>
          <a:p>
            <a:pPr>
              <a:spcAft>
                <a:spcPts val="800"/>
              </a:spcAft>
              <a:defRPr sz="2200">
                <a:solidFill>
                  <a:srgbClr val="2D2D2D"/>
                </a:solidFill>
                <a:latin typeface="Calibri"/>
              </a:defRPr>
            </a:pPr>
            <a:r>
              <a:t>4.  Live Example Walkthrough</a:t>
            </a:r>
          </a:p>
          <a:p>
            <a:pPr>
              <a:spcAft>
                <a:spcPts val="800"/>
              </a:spcAft>
              <a:defRPr sz="2200">
                <a:solidFill>
                  <a:srgbClr val="2D2D2D"/>
                </a:solidFill>
                <a:latin typeface="Calibri"/>
              </a:defRPr>
            </a:pPr>
            <a:r>
              <a:t>5.  Key Concepts (Embeddings, FAISS, Cosine Similarity)</a:t>
            </a:r>
          </a:p>
          <a:p>
            <a:pPr>
              <a:spcAft>
                <a:spcPts val="800"/>
              </a:spcAft>
              <a:defRPr sz="2200">
                <a:solidFill>
                  <a:srgbClr val="2D2D2D"/>
                </a:solidFill>
                <a:latin typeface="Calibri"/>
              </a:defRPr>
            </a:pPr>
            <a:r>
              <a:t>6.  Summary &amp; Next Steps</a:t>
            </a: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1097280"/>
          </a:xfrm>
          <a:prstGeom prst="rect">
            <a:avLst/>
          </a:prstGeom>
          <a:solidFill>
            <a:srgbClr val="1E276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731520" y="228600"/>
            <a:ext cx="100584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3200" b="1">
                <a:solidFill>
                  <a:srgbClr val="FFFFFF"/>
                </a:solidFill>
                <a:latin typeface="Calibri"/>
              </a:defRPr>
            </a:pPr>
            <a:r>
              <a:t>What is a Multimodal RAG Chatbot?</a:t>
            </a:r>
          </a:p>
        </p:txBody>
      </p:sp>
      <p:sp>
        <p:nvSpPr>
          <p:cNvPr id="4" name="Rectangle 3"/>
          <p:cNvSpPr/>
          <p:nvPr/>
        </p:nvSpPr>
        <p:spPr>
          <a:xfrm>
            <a:off x="731520" y="1645920"/>
            <a:ext cx="5029200" cy="4389120"/>
          </a:xfrm>
          <a:prstGeom prst="rect">
            <a:avLst/>
          </a:prstGeom>
          <a:solidFill>
            <a:srgbClr val="F5F7F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TextBox 4"/>
          <p:cNvSpPr txBox="1"/>
          <p:nvPr/>
        </p:nvSpPr>
        <p:spPr>
          <a:xfrm>
            <a:off x="1097280" y="1828800"/>
            <a:ext cx="438912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000" b="1">
                <a:solidFill>
                  <a:srgbClr val="065A82"/>
                </a:solidFill>
                <a:latin typeface="Calibri"/>
              </a:defRPr>
            </a:pPr>
            <a:r>
              <a:t>RAG = Retrieval-Augmented Generation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097280" y="2560320"/>
            <a:ext cx="4389120" cy="3657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600">
                <a:solidFill>
                  <a:srgbClr val="2D2D2D"/>
                </a:solidFill>
                <a:latin typeface="Calibri"/>
              </a:defRPr>
            </a:pPr>
            <a:r>
              <a:t>Retrieves relevant content from a knowledge base</a:t>
            </a:r>
          </a:p>
          <a:p>
            <a:pPr>
              <a:spcAft>
                <a:spcPts val="800"/>
              </a:spcAft>
              <a:defRPr sz="1600">
                <a:solidFill>
                  <a:srgbClr val="2D2D2D"/>
                </a:solidFill>
                <a:latin typeface="Calibri"/>
              </a:defRPr>
            </a:pPr>
            <a:r>
              <a:t>Augments the answer with actual document data</a:t>
            </a:r>
          </a:p>
          <a:p>
            <a:pPr>
              <a:spcAft>
                <a:spcPts val="800"/>
              </a:spcAft>
              <a:defRPr sz="1600">
                <a:solidFill>
                  <a:srgbClr val="2D2D2D"/>
                </a:solidFill>
                <a:latin typeface="Calibri"/>
              </a:defRPr>
            </a:pPr>
            <a:r>
              <a:t>Grounds responses in real content (no hallucination)</a:t>
            </a:r>
          </a:p>
        </p:txBody>
      </p:sp>
      <p:sp>
        <p:nvSpPr>
          <p:cNvPr id="7" name="Rectangle 6"/>
          <p:cNvSpPr/>
          <p:nvPr/>
        </p:nvSpPr>
        <p:spPr>
          <a:xfrm>
            <a:off x="6400800" y="1645920"/>
            <a:ext cx="5029200" cy="4389120"/>
          </a:xfrm>
          <a:prstGeom prst="rect">
            <a:avLst/>
          </a:prstGeom>
          <a:solidFill>
            <a:srgbClr val="F5F7F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TextBox 7"/>
          <p:cNvSpPr txBox="1"/>
          <p:nvPr/>
        </p:nvSpPr>
        <p:spPr>
          <a:xfrm>
            <a:off x="6766560" y="1828800"/>
            <a:ext cx="438912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000" b="1">
                <a:solidFill>
                  <a:srgbClr val="065A82"/>
                </a:solidFill>
                <a:latin typeface="Calibri"/>
              </a:defRPr>
            </a:pPr>
            <a:r>
              <a:t>Multimodal = Text + Images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766560" y="2560320"/>
            <a:ext cx="4389120" cy="3657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600">
                <a:solidFill>
                  <a:srgbClr val="2D2D2D"/>
                </a:solidFill>
                <a:latin typeface="Calibri"/>
              </a:defRPr>
            </a:pPr>
            <a:r>
              <a:t>Extracts both text AND images from PDF</a:t>
            </a:r>
          </a:p>
          <a:p>
            <a:pPr>
              <a:spcAft>
                <a:spcPts val="800"/>
              </a:spcAft>
              <a:defRPr sz="1600">
                <a:solidFill>
                  <a:srgbClr val="2D2D2D"/>
                </a:solidFill>
                <a:latin typeface="Calibri"/>
              </a:defRPr>
            </a:pPr>
            <a:r>
              <a:t>Returns relevant images alongside text answers</a:t>
            </a:r>
          </a:p>
          <a:p>
            <a:pPr>
              <a:spcAft>
                <a:spcPts val="800"/>
              </a:spcAft>
              <a:defRPr sz="1600">
                <a:solidFill>
                  <a:srgbClr val="2D2D2D"/>
                </a:solidFill>
                <a:latin typeface="Calibri"/>
              </a:defRPr>
            </a:pPr>
            <a:r>
              <a:t>Page-based linking ensures image accuracy</a:t>
            </a: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1097280"/>
          </a:xfrm>
          <a:prstGeom prst="rect">
            <a:avLst/>
          </a:prstGeom>
          <a:solidFill>
            <a:srgbClr val="1E276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731520" y="228600"/>
            <a:ext cx="100584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3200" b="1">
                <a:solidFill>
                  <a:srgbClr val="FFFFFF"/>
                </a:solidFill>
                <a:latin typeface="Calibri"/>
              </a:defRPr>
            </a:pPr>
            <a:r>
              <a:t>Architecture: Two-Phase Design</a:t>
            </a:r>
          </a:p>
        </p:txBody>
      </p:sp>
      <p:sp>
        <p:nvSpPr>
          <p:cNvPr id="4" name="Rectangle 3"/>
          <p:cNvSpPr/>
          <p:nvPr/>
        </p:nvSpPr>
        <p:spPr>
          <a:xfrm>
            <a:off x="457200" y="1463040"/>
            <a:ext cx="5486400" cy="548640"/>
          </a:xfrm>
          <a:prstGeom prst="rect">
            <a:avLst/>
          </a:prstGeom>
          <a:solidFill>
            <a:srgbClr val="065A8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TextBox 4"/>
          <p:cNvSpPr txBox="1"/>
          <p:nvPr/>
        </p:nvSpPr>
        <p:spPr>
          <a:xfrm>
            <a:off x="640080" y="1508760"/>
            <a:ext cx="50292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800" b="1">
                <a:solidFill>
                  <a:srgbClr val="FFFFFF"/>
                </a:solidFill>
                <a:latin typeface="Calibri"/>
              </a:defRPr>
            </a:pPr>
            <a:r>
              <a:t>Phase 1: Indexing (One-Time Setup)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31520" y="2194560"/>
            <a:ext cx="5029200" cy="3657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500">
                <a:solidFill>
                  <a:srgbClr val="2D2D2D"/>
                </a:solidFill>
                <a:latin typeface="Calibri"/>
              </a:defRPr>
            </a:pPr>
            <a:r>
              <a:t>1. PDF Upload → Extract text + images</a:t>
            </a:r>
          </a:p>
          <a:p>
            <a:pPr>
              <a:spcAft>
                <a:spcPts val="800"/>
              </a:spcAft>
              <a:defRPr sz="1500">
                <a:solidFill>
                  <a:srgbClr val="2D2D2D"/>
                </a:solidFill>
                <a:latin typeface="Calibri"/>
              </a:defRPr>
            </a:pPr>
            <a:r>
              <a:t>2. Text → Split into chunks → Encode to vectors</a:t>
            </a:r>
          </a:p>
          <a:p>
            <a:pPr>
              <a:spcAft>
                <a:spcPts val="800"/>
              </a:spcAft>
              <a:defRPr sz="1500">
                <a:solidFill>
                  <a:srgbClr val="2D2D2D"/>
                </a:solidFill>
                <a:latin typeface="Calibri"/>
              </a:defRPr>
            </a:pPr>
            <a:r>
              <a:t>3. Images → Save with page numbers</a:t>
            </a:r>
          </a:p>
          <a:p>
            <a:pPr>
              <a:spcAft>
                <a:spcPts val="800"/>
              </a:spcAft>
              <a:defRPr sz="1500">
                <a:solidFill>
                  <a:srgbClr val="2D2D2D"/>
                </a:solidFill>
                <a:latin typeface="Calibri"/>
              </a:defRPr>
            </a:pPr>
            <a:r>
              <a:t>4. Build FAISS index + Page-to-Image map</a:t>
            </a:r>
          </a:p>
        </p:txBody>
      </p:sp>
      <p:sp>
        <p:nvSpPr>
          <p:cNvPr id="7" name="Rectangle 6"/>
          <p:cNvSpPr/>
          <p:nvPr/>
        </p:nvSpPr>
        <p:spPr>
          <a:xfrm>
            <a:off x="6400800" y="1463040"/>
            <a:ext cx="5486400" cy="548640"/>
          </a:xfrm>
          <a:prstGeom prst="rect">
            <a:avLst/>
          </a:prstGeom>
          <a:solidFill>
            <a:srgbClr val="00A89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TextBox 7"/>
          <p:cNvSpPr txBox="1"/>
          <p:nvPr/>
        </p:nvSpPr>
        <p:spPr>
          <a:xfrm>
            <a:off x="6583680" y="1508760"/>
            <a:ext cx="50292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800" b="1">
                <a:solidFill>
                  <a:srgbClr val="FFFFFF"/>
                </a:solidFill>
                <a:latin typeface="Calibri"/>
              </a:defRPr>
            </a:pPr>
            <a:r>
              <a:t>Phase 2: Query (Every Question)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675120" y="2194560"/>
            <a:ext cx="5029200" cy="3657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500">
                <a:solidFill>
                  <a:srgbClr val="2D2D2D"/>
                </a:solidFill>
                <a:latin typeface="Calibri"/>
              </a:defRPr>
            </a:pPr>
            <a:r>
              <a:t>1. Question → Encode to vector</a:t>
            </a:r>
          </a:p>
          <a:p>
            <a:pPr>
              <a:spcAft>
                <a:spcPts val="800"/>
              </a:spcAft>
              <a:defRPr sz="1500">
                <a:solidFill>
                  <a:srgbClr val="2D2D2D"/>
                </a:solidFill>
                <a:latin typeface="Calibri"/>
              </a:defRPr>
            </a:pPr>
            <a:r>
              <a:t>2. FAISS → Find top 10 matching chunks</a:t>
            </a:r>
          </a:p>
          <a:p>
            <a:pPr>
              <a:spcAft>
                <a:spcPts val="800"/>
              </a:spcAft>
              <a:defRPr sz="1500">
                <a:solidFill>
                  <a:srgbClr val="2D2D2D"/>
                </a:solidFill>
                <a:latin typeface="Calibri"/>
              </a:defRPr>
            </a:pPr>
            <a:r>
              <a:t>3. Score &lt; 0.35? → Reject as unrelated</a:t>
            </a:r>
          </a:p>
          <a:p>
            <a:pPr>
              <a:spcAft>
                <a:spcPts val="800"/>
              </a:spcAft>
              <a:defRPr sz="1500">
                <a:solidFill>
                  <a:srgbClr val="2D2D2D"/>
                </a:solidFill>
                <a:latin typeface="Calibri"/>
              </a:defRPr>
            </a:pPr>
            <a:r>
              <a:t>4. Extract best sentences as answer</a:t>
            </a:r>
          </a:p>
          <a:p>
            <a:pPr>
              <a:spcAft>
                <a:spcPts val="800"/>
              </a:spcAft>
              <a:defRPr sz="1500">
                <a:solidFill>
                  <a:srgbClr val="2D2D2D"/>
                </a:solidFill>
                <a:latin typeface="Calibri"/>
              </a:defRPr>
            </a:pPr>
            <a:r>
              <a:t>5. Show images from matching pages</a:t>
            </a: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1097280"/>
          </a:xfrm>
          <a:prstGeom prst="rect">
            <a:avLst/>
          </a:prstGeom>
          <a:solidFill>
            <a:srgbClr val="1E276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731520" y="228600"/>
            <a:ext cx="100584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3200" b="1">
                <a:solidFill>
                  <a:srgbClr val="FFFFFF"/>
                </a:solidFill>
                <a:latin typeface="Calibri"/>
              </a:defRPr>
            </a:pPr>
            <a:r>
              <a:t>Technologies Used</a:t>
            </a:r>
          </a:p>
        </p:txBody>
      </p:sp>
      <p:sp>
        <p:nvSpPr>
          <p:cNvPr id="4" name="Rectangle 3"/>
          <p:cNvSpPr/>
          <p:nvPr/>
        </p:nvSpPr>
        <p:spPr>
          <a:xfrm>
            <a:off x="457200" y="1645920"/>
            <a:ext cx="2651760" cy="2011680"/>
          </a:xfrm>
          <a:prstGeom prst="rect">
            <a:avLst/>
          </a:prstGeom>
          <a:solidFill>
            <a:srgbClr val="F5F7F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TextBox 4"/>
          <p:cNvSpPr txBox="1"/>
          <p:nvPr/>
        </p:nvSpPr>
        <p:spPr>
          <a:xfrm>
            <a:off x="640080" y="1920240"/>
            <a:ext cx="22860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2000" b="1">
                <a:solidFill>
                  <a:srgbClr val="065A82"/>
                </a:solidFill>
                <a:latin typeface="Calibri"/>
              </a:defRPr>
            </a:pPr>
            <a:r>
              <a:t>PyMuPDF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40080" y="2560320"/>
            <a:ext cx="228600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500" b="0">
                <a:solidFill>
                  <a:srgbClr val="2D2D2D"/>
                </a:solidFill>
                <a:latin typeface="Calibri"/>
              </a:defRPr>
            </a:pPr>
            <a:r>
              <a:t>PDF text &amp; image extraction</a:t>
            </a:r>
          </a:p>
        </p:txBody>
      </p:sp>
      <p:sp>
        <p:nvSpPr>
          <p:cNvPr id="7" name="Rectangle 6"/>
          <p:cNvSpPr/>
          <p:nvPr/>
        </p:nvSpPr>
        <p:spPr>
          <a:xfrm>
            <a:off x="3337560" y="1645920"/>
            <a:ext cx="2651760" cy="2011680"/>
          </a:xfrm>
          <a:prstGeom prst="rect">
            <a:avLst/>
          </a:prstGeom>
          <a:solidFill>
            <a:srgbClr val="F5F7F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TextBox 7"/>
          <p:cNvSpPr txBox="1"/>
          <p:nvPr/>
        </p:nvSpPr>
        <p:spPr>
          <a:xfrm>
            <a:off x="3520440" y="1920240"/>
            <a:ext cx="22860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2000" b="1">
                <a:solidFill>
                  <a:srgbClr val="065A82"/>
                </a:solidFill>
                <a:latin typeface="Calibri"/>
              </a:defRPr>
            </a:pPr>
            <a:r>
              <a:t>Sentence Transformers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3520440" y="2560320"/>
            <a:ext cx="228600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500" b="0">
                <a:solidFill>
                  <a:srgbClr val="2D2D2D"/>
                </a:solidFill>
                <a:latin typeface="Calibri"/>
              </a:defRPr>
            </a:pPr>
            <a:r>
              <a:t>Text → 384-dim vectors</a:t>
            </a:r>
          </a:p>
        </p:txBody>
      </p:sp>
      <p:sp>
        <p:nvSpPr>
          <p:cNvPr id="10" name="Rectangle 9"/>
          <p:cNvSpPr/>
          <p:nvPr/>
        </p:nvSpPr>
        <p:spPr>
          <a:xfrm>
            <a:off x="6217920" y="1645920"/>
            <a:ext cx="2651760" cy="2011680"/>
          </a:xfrm>
          <a:prstGeom prst="rect">
            <a:avLst/>
          </a:prstGeom>
          <a:solidFill>
            <a:srgbClr val="F5F7F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1" name="TextBox 10"/>
          <p:cNvSpPr txBox="1"/>
          <p:nvPr/>
        </p:nvSpPr>
        <p:spPr>
          <a:xfrm>
            <a:off x="6400800" y="1920240"/>
            <a:ext cx="22860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2000" b="1">
                <a:solidFill>
                  <a:srgbClr val="065A82"/>
                </a:solidFill>
                <a:latin typeface="Calibri"/>
              </a:defRPr>
            </a:pPr>
            <a:r>
              <a:t>CLIP (ViT-B-32)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6400800" y="2560320"/>
            <a:ext cx="228600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500" b="0">
                <a:solidFill>
                  <a:srgbClr val="2D2D2D"/>
                </a:solidFill>
                <a:latin typeface="Calibri"/>
              </a:defRPr>
            </a:pPr>
            <a:r>
              <a:t>Image → 512-dim vectors</a:t>
            </a:r>
          </a:p>
        </p:txBody>
      </p:sp>
      <p:sp>
        <p:nvSpPr>
          <p:cNvPr id="13" name="Rectangle 12"/>
          <p:cNvSpPr/>
          <p:nvPr/>
        </p:nvSpPr>
        <p:spPr>
          <a:xfrm>
            <a:off x="9098280" y="1645920"/>
            <a:ext cx="2651760" cy="2011680"/>
          </a:xfrm>
          <a:prstGeom prst="rect">
            <a:avLst/>
          </a:prstGeom>
          <a:solidFill>
            <a:srgbClr val="F5F7F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4" name="TextBox 13"/>
          <p:cNvSpPr txBox="1"/>
          <p:nvPr/>
        </p:nvSpPr>
        <p:spPr>
          <a:xfrm>
            <a:off x="9281160" y="1920240"/>
            <a:ext cx="22860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2000" b="1">
                <a:solidFill>
                  <a:srgbClr val="065A82"/>
                </a:solidFill>
                <a:latin typeface="Calibri"/>
              </a:defRPr>
            </a:pPr>
            <a:r>
              <a:t>FAISS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9281160" y="2560320"/>
            <a:ext cx="228600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500" b="0">
                <a:solidFill>
                  <a:srgbClr val="2D2D2D"/>
                </a:solidFill>
                <a:latin typeface="Calibri"/>
              </a:defRPr>
            </a:pPr>
            <a:r>
              <a:t>Fast vector similarity search</a:t>
            </a: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1097280"/>
          </a:xfrm>
          <a:prstGeom prst="rect">
            <a:avLst/>
          </a:prstGeom>
          <a:solidFill>
            <a:srgbClr val="1E276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731520" y="228600"/>
            <a:ext cx="100584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3000" b="1">
                <a:solidFill>
                  <a:srgbClr val="FFFFFF"/>
                </a:solidFill>
                <a:latin typeface="Calibri"/>
              </a:defRPr>
            </a:pPr>
            <a:r>
              <a:t>Step 1-2: Install &amp; Process PDF</a:t>
            </a:r>
          </a:p>
        </p:txBody>
      </p:sp>
      <p:sp>
        <p:nvSpPr>
          <p:cNvPr id="4" name="Rectangle 3"/>
          <p:cNvSpPr/>
          <p:nvPr/>
        </p:nvSpPr>
        <p:spPr>
          <a:xfrm>
            <a:off x="457200" y="1463040"/>
            <a:ext cx="5943600" cy="4754880"/>
          </a:xfrm>
          <a:prstGeom prst="rect">
            <a:avLst/>
          </a:prstGeom>
          <a:solidFill>
            <a:srgbClr val="1E1E2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TextBox 4"/>
          <p:cNvSpPr txBox="1"/>
          <p:nvPr/>
        </p:nvSpPr>
        <p:spPr>
          <a:xfrm>
            <a:off x="731520" y="1645920"/>
            <a:ext cx="5486400" cy="43891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0">
                <a:solidFill>
                  <a:srgbClr val="A6E22E"/>
                </a:solidFill>
                <a:latin typeface="Consolas"/>
              </a:defRPr>
            </a:pPr>
            <a:r>
              <a:t>!pip install pymupdf faiss-cpu sentence-transformers</a:t>
            </a:r>
            <a:br/>
            <a:r>
              <a:t/>
            </a:r>
            <a:br/>
            <a:r>
              <a:t>doc = fitz.open(file_path)</a:t>
            </a:r>
            <a:br/>
            <a:r>
              <a:t>for page_num in range(len(doc)):</a:t>
            </a:r>
            <a:br/>
            <a:r>
              <a:t>    texts.append(page.get_text())</a:t>
            </a:r>
            <a:br/>
            <a:r>
              <a:t>    for img in page.get_images():</a:t>
            </a:r>
            <a:br/>
            <a:r>
              <a:t>        # save image as p{page}_{i}.png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858000" y="1463040"/>
            <a:ext cx="45720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000" b="1">
                <a:solidFill>
                  <a:srgbClr val="065A82"/>
                </a:solidFill>
                <a:latin typeface="Calibri"/>
              </a:defRPr>
            </a:pPr>
            <a:r>
              <a:t>Key Points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858000" y="2103120"/>
            <a:ext cx="4754880" cy="3657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600">
                <a:solidFill>
                  <a:srgbClr val="2D2D2D"/>
                </a:solidFill>
                <a:latin typeface="Calibri"/>
              </a:defRPr>
            </a:pPr>
            <a:r>
              <a:t>Install 4 core libraries with pip</a:t>
            </a:r>
          </a:p>
          <a:p>
            <a:pPr>
              <a:spcAft>
                <a:spcPts val="800"/>
              </a:spcAft>
              <a:defRPr sz="1600">
                <a:solidFill>
                  <a:srgbClr val="2D2D2D"/>
                </a:solidFill>
                <a:latin typeface="Calibri"/>
              </a:defRPr>
            </a:pPr>
            <a:r>
              <a:t>PyMuPDF extracts text page-by-page</a:t>
            </a:r>
          </a:p>
          <a:p>
            <a:pPr>
              <a:spcAft>
                <a:spcPts val="800"/>
              </a:spcAft>
              <a:defRPr sz="1600">
                <a:solidFill>
                  <a:srgbClr val="2D2D2D"/>
                </a:solidFill>
                <a:latin typeface="Calibri"/>
              </a:defRPr>
            </a:pPr>
            <a:r>
              <a:t>Images saved as p{page}_{index}.png</a:t>
            </a:r>
          </a:p>
          <a:p>
            <a:pPr>
              <a:spcAft>
                <a:spcPts val="800"/>
              </a:spcAft>
              <a:defRPr sz="1600">
                <a:solidFill>
                  <a:srgbClr val="2D2D2D"/>
                </a:solidFill>
                <a:latin typeface="Calibri"/>
              </a:defRPr>
            </a:pPr>
            <a:r>
              <a:t>Naming convention enables page tracking</a:t>
            </a: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1097280"/>
          </a:xfrm>
          <a:prstGeom prst="rect">
            <a:avLst/>
          </a:prstGeom>
          <a:solidFill>
            <a:srgbClr val="1E276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731520" y="228600"/>
            <a:ext cx="100584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3000" b="1">
                <a:solidFill>
                  <a:srgbClr val="FFFFFF"/>
                </a:solidFill>
                <a:latin typeface="Calibri"/>
              </a:defRPr>
            </a:pPr>
            <a:r>
              <a:t>Step 3: Text Chunking</a:t>
            </a:r>
          </a:p>
        </p:txBody>
      </p:sp>
      <p:sp>
        <p:nvSpPr>
          <p:cNvPr id="4" name="Rectangle 3"/>
          <p:cNvSpPr/>
          <p:nvPr/>
        </p:nvSpPr>
        <p:spPr>
          <a:xfrm>
            <a:off x="457200" y="1463040"/>
            <a:ext cx="5943600" cy="4754880"/>
          </a:xfrm>
          <a:prstGeom prst="rect">
            <a:avLst/>
          </a:prstGeom>
          <a:solidFill>
            <a:srgbClr val="1E1E2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TextBox 4"/>
          <p:cNvSpPr txBox="1"/>
          <p:nvPr/>
        </p:nvSpPr>
        <p:spPr>
          <a:xfrm>
            <a:off x="731520" y="1645920"/>
            <a:ext cx="5486400" cy="43891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0">
                <a:solidFill>
                  <a:srgbClr val="A6E22E"/>
                </a:solidFill>
                <a:latin typeface="Consolas"/>
              </a:defRPr>
            </a:pPr>
            <a:r>
              <a:t>for i, text in enumerate(texts):</a:t>
            </a:r>
            <a:br/>
            <a:r>
              <a:t>    for chunk in text.split('\n\n'):</a:t>
            </a:r>
            <a:br/>
            <a:r>
              <a:t>        if len(chunk) &gt; 100:</a:t>
            </a:r>
            <a:br/>
            <a:r>
              <a:t>            chunks.append(chunk)</a:t>
            </a:r>
            <a:br/>
            <a:r>
              <a:t>            chunk_page_map.append(i)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858000" y="1463040"/>
            <a:ext cx="45720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000" b="1">
                <a:solidFill>
                  <a:srgbClr val="065A82"/>
                </a:solidFill>
                <a:latin typeface="Calibri"/>
              </a:defRPr>
            </a:pPr>
            <a:r>
              <a:t>Key Points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858000" y="2103120"/>
            <a:ext cx="4754880" cy="3657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600">
                <a:solidFill>
                  <a:srgbClr val="2D2D2D"/>
                </a:solidFill>
                <a:latin typeface="Calibri"/>
              </a:defRPr>
            </a:pPr>
            <a:r>
              <a:t>Split by double newline = paragraph-level chunks</a:t>
            </a:r>
          </a:p>
          <a:p>
            <a:pPr>
              <a:spcAft>
                <a:spcPts val="800"/>
              </a:spcAft>
              <a:defRPr sz="1600">
                <a:solidFill>
                  <a:srgbClr val="2D2D2D"/>
                </a:solidFill>
                <a:latin typeface="Calibri"/>
              </a:defRPr>
            </a:pPr>
            <a:r>
              <a:t>Filter out fragments &lt; 100 characters</a:t>
            </a:r>
          </a:p>
          <a:p>
            <a:pPr>
              <a:spcAft>
                <a:spcPts val="800"/>
              </a:spcAft>
              <a:defRPr sz="1600">
                <a:solidFill>
                  <a:srgbClr val="2D2D2D"/>
                </a:solidFill>
                <a:latin typeface="Calibri"/>
              </a:defRPr>
            </a:pPr>
            <a:r>
              <a:t>chunk_page_map tracks source page for each chunk</a:t>
            </a:r>
          </a:p>
          <a:p>
            <a:pPr>
              <a:spcAft>
                <a:spcPts val="800"/>
              </a:spcAft>
              <a:defRPr sz="1600">
                <a:solidFill>
                  <a:srgbClr val="2D2D2D"/>
                </a:solidFill>
                <a:latin typeface="Calibri"/>
              </a:defRPr>
            </a:pPr>
            <a:r>
              <a:t>Essential for page-based image retrieval</a:t>
            </a: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1097280"/>
          </a:xfrm>
          <a:prstGeom prst="rect">
            <a:avLst/>
          </a:prstGeom>
          <a:solidFill>
            <a:srgbClr val="1E276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731520" y="228600"/>
            <a:ext cx="100584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3000" b="1">
                <a:solidFill>
                  <a:srgbClr val="FFFFFF"/>
                </a:solidFill>
                <a:latin typeface="Calibri"/>
              </a:defRPr>
            </a:pPr>
            <a:r>
              <a:t>Step 4-5: Embeddings &amp; FAISS Index</a:t>
            </a:r>
          </a:p>
        </p:txBody>
      </p:sp>
      <p:sp>
        <p:nvSpPr>
          <p:cNvPr id="4" name="Rectangle 3"/>
          <p:cNvSpPr/>
          <p:nvPr/>
        </p:nvSpPr>
        <p:spPr>
          <a:xfrm>
            <a:off x="457200" y="1463040"/>
            <a:ext cx="5943600" cy="4754880"/>
          </a:xfrm>
          <a:prstGeom prst="rect">
            <a:avLst/>
          </a:prstGeom>
          <a:solidFill>
            <a:srgbClr val="1E1E2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TextBox 4"/>
          <p:cNvSpPr txBox="1"/>
          <p:nvPr/>
        </p:nvSpPr>
        <p:spPr>
          <a:xfrm>
            <a:off x="731520" y="1645920"/>
            <a:ext cx="5486400" cy="43891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0">
                <a:solidFill>
                  <a:srgbClr val="A6E22E"/>
                </a:solidFill>
                <a:latin typeface="Consolas"/>
              </a:defRPr>
            </a:pPr>
            <a:r>
              <a:t>text_model = SentenceTransformer('all-MiniLM-L6-v2')</a:t>
            </a:r>
            <a:br/>
            <a:r>
              <a:t>text_emb = text_model.encode(chunks,</a:t>
            </a:r>
            <a:br/>
            <a:r>
              <a:t>    normalize_embeddings=True)</a:t>
            </a:r>
            <a:br/>
            <a:r>
              <a:t/>
            </a:r>
            <a:br/>
            <a:r>
              <a:t>text_index = faiss.IndexFlatIP(384)</a:t>
            </a:r>
            <a:br/>
            <a:r>
              <a:t>text_index.add(text_emb)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858000" y="1463040"/>
            <a:ext cx="45720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000" b="1">
                <a:solidFill>
                  <a:srgbClr val="065A82"/>
                </a:solidFill>
                <a:latin typeface="Calibri"/>
              </a:defRPr>
            </a:pPr>
            <a:r>
              <a:t>Key Points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858000" y="2103120"/>
            <a:ext cx="4754880" cy="3657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600">
                <a:solidFill>
                  <a:srgbClr val="2D2D2D"/>
                </a:solidFill>
                <a:latin typeface="Calibri"/>
              </a:defRPr>
            </a:pPr>
            <a:r>
              <a:t>all-MiniLM-L6-v2: text → 384-dim vectors</a:t>
            </a:r>
          </a:p>
          <a:p>
            <a:pPr>
              <a:spcAft>
                <a:spcPts val="800"/>
              </a:spcAft>
              <a:defRPr sz="1600">
                <a:solidFill>
                  <a:srgbClr val="2D2D2D"/>
                </a:solidFill>
                <a:latin typeface="Calibri"/>
              </a:defRPr>
            </a:pPr>
            <a:r>
              <a:t>normalize_embeddings=True: scores become 0-1</a:t>
            </a:r>
          </a:p>
          <a:p>
            <a:pPr>
              <a:spcAft>
                <a:spcPts val="800"/>
              </a:spcAft>
              <a:defRPr sz="1600">
                <a:solidFill>
                  <a:srgbClr val="2D2D2D"/>
                </a:solidFill>
                <a:latin typeface="Calibri"/>
              </a:defRPr>
            </a:pPr>
            <a:r>
              <a:t>IndexFlatIP: inner product = cosine similarity</a:t>
            </a:r>
          </a:p>
          <a:p>
            <a:pPr>
              <a:spcAft>
                <a:spcPts val="800"/>
              </a:spcAft>
              <a:defRPr sz="1600">
                <a:solidFill>
                  <a:srgbClr val="2D2D2D"/>
                </a:solidFill>
                <a:latin typeface="Calibri"/>
              </a:defRPr>
            </a:pPr>
            <a:r>
              <a:t>Enables threshold-based relevance filtering</a:t>
            </a: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1097280"/>
          </a:xfrm>
          <a:prstGeom prst="rect">
            <a:avLst/>
          </a:prstGeom>
          <a:solidFill>
            <a:srgbClr val="1E276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731520" y="228600"/>
            <a:ext cx="100584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3000" b="1">
                <a:solidFill>
                  <a:srgbClr val="FFFFFF"/>
                </a:solidFill>
                <a:latin typeface="Calibri"/>
              </a:defRPr>
            </a:pPr>
            <a:r>
              <a:t>Step 6: Image Embeddings (CLIP)</a:t>
            </a:r>
          </a:p>
        </p:txBody>
      </p:sp>
      <p:sp>
        <p:nvSpPr>
          <p:cNvPr id="4" name="Rectangle 3"/>
          <p:cNvSpPr/>
          <p:nvPr/>
        </p:nvSpPr>
        <p:spPr>
          <a:xfrm>
            <a:off x="457200" y="1463040"/>
            <a:ext cx="5943600" cy="4754880"/>
          </a:xfrm>
          <a:prstGeom prst="rect">
            <a:avLst/>
          </a:prstGeom>
          <a:solidFill>
            <a:srgbClr val="1E1E2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TextBox 4"/>
          <p:cNvSpPr txBox="1"/>
          <p:nvPr/>
        </p:nvSpPr>
        <p:spPr>
          <a:xfrm>
            <a:off x="731520" y="1645920"/>
            <a:ext cx="5486400" cy="43891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0">
                <a:solidFill>
                  <a:srgbClr val="A6E22E"/>
                </a:solidFill>
                <a:latin typeface="Consolas"/>
              </a:defRPr>
            </a:pPr>
            <a:r>
              <a:t>clip_model = SentenceTransformer('clip-ViT-B-32')</a:t>
            </a:r>
            <a:br/>
            <a:r>
              <a:t/>
            </a:r>
            <a:br/>
            <a:r>
              <a:t>for page, path in image_paths:</a:t>
            </a:r>
            <a:br/>
            <a:r>
              <a:t>    img = Image.open(path).convert('RGB')</a:t>
            </a:r>
            <a:br/>
            <a:r>
              <a:t>    emb = clip_model.encode(img)</a:t>
            </a:r>
            <a:br/>
            <a:r>
              <a:t>    image_embeddings.append(emb)</a:t>
            </a:r>
            <a:br/>
            <a:r>
              <a:t>    image_files.append(path)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858000" y="1463040"/>
            <a:ext cx="45720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000" b="1">
                <a:solidFill>
                  <a:srgbClr val="065A82"/>
                </a:solidFill>
                <a:latin typeface="Calibri"/>
              </a:defRPr>
            </a:pPr>
            <a:r>
              <a:t>Key Points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858000" y="2103120"/>
            <a:ext cx="4754880" cy="3657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600">
                <a:solidFill>
                  <a:srgbClr val="2D2D2D"/>
                </a:solidFill>
                <a:latin typeface="Calibri"/>
              </a:defRPr>
            </a:pPr>
            <a:r>
              <a:t>CLIP encodes images into 512-dim vectors</a:t>
            </a:r>
          </a:p>
          <a:p>
            <a:pPr>
              <a:spcAft>
                <a:spcPts val="800"/>
              </a:spcAft>
              <a:defRPr sz="1600">
                <a:solidFill>
                  <a:srgbClr val="2D2D2D"/>
                </a:solidFill>
                <a:latin typeface="Calibri"/>
              </a:defRPr>
            </a:pPr>
            <a:r>
              <a:t>Shared text-image vector space</a:t>
            </a:r>
          </a:p>
          <a:p>
            <a:pPr>
              <a:spcAft>
                <a:spcPts val="800"/>
              </a:spcAft>
              <a:defRPr sz="1600">
                <a:solidFill>
                  <a:srgbClr val="2D2D2D"/>
                </a:solidFill>
                <a:latin typeface="Calibri"/>
              </a:defRPr>
            </a:pPr>
            <a:r>
              <a:t>We store paths as strings (not tuples)</a:t>
            </a:r>
          </a:p>
          <a:p>
            <a:pPr>
              <a:spcAft>
                <a:spcPts val="800"/>
              </a:spcAft>
              <a:defRPr sz="1600">
                <a:solidFill>
                  <a:srgbClr val="2D2D2D"/>
                </a:solidFill>
                <a:latin typeface="Calibri"/>
              </a:defRPr>
            </a:pPr>
            <a:r>
              <a:t>Used as backup; primary retrieval is page-based</a:t>
            </a: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1097280"/>
          </a:xfrm>
          <a:prstGeom prst="rect">
            <a:avLst/>
          </a:prstGeom>
          <a:solidFill>
            <a:srgbClr val="1E276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731520" y="228600"/>
            <a:ext cx="100584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3000" b="1">
                <a:solidFill>
                  <a:srgbClr val="FFFFFF"/>
                </a:solidFill>
                <a:latin typeface="Calibri"/>
              </a:defRPr>
            </a:pPr>
            <a:r>
              <a:t>Step 7: Page-to-Image Mapping</a:t>
            </a:r>
          </a:p>
        </p:txBody>
      </p:sp>
      <p:sp>
        <p:nvSpPr>
          <p:cNvPr id="4" name="Rectangle 3"/>
          <p:cNvSpPr/>
          <p:nvPr/>
        </p:nvSpPr>
        <p:spPr>
          <a:xfrm>
            <a:off x="457200" y="1463040"/>
            <a:ext cx="5943600" cy="4754880"/>
          </a:xfrm>
          <a:prstGeom prst="rect">
            <a:avLst/>
          </a:prstGeom>
          <a:solidFill>
            <a:srgbClr val="1E1E2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TextBox 4"/>
          <p:cNvSpPr txBox="1"/>
          <p:nvPr/>
        </p:nvSpPr>
        <p:spPr>
          <a:xfrm>
            <a:off x="731520" y="1645920"/>
            <a:ext cx="5486400" cy="43891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0">
                <a:solidFill>
                  <a:srgbClr val="A6E22E"/>
                </a:solidFill>
                <a:latin typeface="Consolas"/>
              </a:defRPr>
            </a:pPr>
            <a:r>
              <a:t>page_to_images = {}</a:t>
            </a:r>
            <a:br/>
            <a:r>
              <a:t>for path in image_files:</a:t>
            </a:r>
            <a:br/>
            <a:r>
              <a:t>    filename = os.path.basename(path)</a:t>
            </a:r>
            <a:br/>
            <a:r>
              <a:t>    page = int(filename.split('_')[0]</a:t>
            </a:r>
            <a:br/>
            <a:r>
              <a:t>              .replace('p', ''))</a:t>
            </a:r>
            <a:br/>
            <a:r>
              <a:t>    page_to_images[page].append(path)</a:t>
            </a:r>
            <a:br/>
            <a:r>
              <a:t/>
            </a:r>
            <a:br/>
            <a:r>
              <a:t># Result:</a:t>
            </a:r>
            <a:br/>
            <a:r>
              <a:t># {22: ['p22_0.png', 'p22_1.png'],</a:t>
            </a:r>
            <a:br/>
            <a:r>
              <a:t>#  23: ['p23_0.png']}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858000" y="1463040"/>
            <a:ext cx="45720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000" b="1">
                <a:solidFill>
                  <a:srgbClr val="065A82"/>
                </a:solidFill>
                <a:latin typeface="Calibri"/>
              </a:defRPr>
            </a:pPr>
            <a:r>
              <a:t>Key Points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858000" y="2103120"/>
            <a:ext cx="4754880" cy="3657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600">
                <a:solidFill>
                  <a:srgbClr val="2D2D2D"/>
                </a:solidFill>
                <a:latin typeface="Calibri"/>
              </a:defRPr>
            </a:pPr>
            <a:r>
              <a:t>KEY to accurate image retrieval</a:t>
            </a:r>
          </a:p>
          <a:p>
            <a:pPr>
              <a:spcAft>
                <a:spcPts val="800"/>
              </a:spcAft>
              <a:defRPr sz="1600">
                <a:solidFill>
                  <a:srgbClr val="2D2D2D"/>
                </a:solidFill>
                <a:latin typeface="Calibri"/>
              </a:defRPr>
            </a:pPr>
            <a:r>
              <a:t>Parse page number from filename (p22_0.png → 22)</a:t>
            </a:r>
          </a:p>
          <a:p>
            <a:pPr>
              <a:spcAft>
                <a:spcPts val="800"/>
              </a:spcAft>
              <a:defRPr sz="1600">
                <a:solidFill>
                  <a:srgbClr val="2D2D2D"/>
                </a:solidFill>
                <a:latin typeface="Calibri"/>
              </a:defRPr>
            </a:pPr>
            <a:r>
              <a:t>Dictionary maps page → list of image paths</a:t>
            </a:r>
          </a:p>
          <a:p>
            <a:pPr>
              <a:spcAft>
                <a:spcPts val="800"/>
              </a:spcAft>
              <a:defRPr sz="1600">
                <a:solidFill>
                  <a:srgbClr val="2D2D2D"/>
                </a:solidFill>
                <a:latin typeface="Calibri"/>
              </a:defRPr>
            </a:pPr>
            <a:r>
              <a:t>When text matches page 22, show page 22 images</a:t>
            </a: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1097280"/>
          </a:xfrm>
          <a:prstGeom prst="rect">
            <a:avLst/>
          </a:prstGeom>
          <a:solidFill>
            <a:srgbClr val="1E276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731520" y="228600"/>
            <a:ext cx="100584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3000" b="1">
                <a:solidFill>
                  <a:srgbClr val="FFFFFF"/>
                </a:solidFill>
                <a:latin typeface="Calibri"/>
              </a:defRPr>
            </a:pPr>
            <a:r>
              <a:t>Step 8: Extract Best Sentences</a:t>
            </a:r>
          </a:p>
        </p:txBody>
      </p:sp>
      <p:sp>
        <p:nvSpPr>
          <p:cNvPr id="4" name="Rectangle 3"/>
          <p:cNvSpPr/>
          <p:nvPr/>
        </p:nvSpPr>
        <p:spPr>
          <a:xfrm>
            <a:off x="457200" y="1463040"/>
            <a:ext cx="5943600" cy="4754880"/>
          </a:xfrm>
          <a:prstGeom prst="rect">
            <a:avLst/>
          </a:prstGeom>
          <a:solidFill>
            <a:srgbClr val="1E1E2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TextBox 4"/>
          <p:cNvSpPr txBox="1"/>
          <p:nvPr/>
        </p:nvSpPr>
        <p:spPr>
          <a:xfrm>
            <a:off x="731520" y="1645920"/>
            <a:ext cx="5486400" cy="43891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0">
                <a:solidFill>
                  <a:srgbClr val="A6E22E"/>
                </a:solidFill>
                <a:latin typeface="Consolas"/>
              </a:defRPr>
            </a:pPr>
            <a:r>
              <a:t>def extract_best_sentences(chunks, query):</a:t>
            </a:r>
            <a:br/>
            <a:r>
              <a:t>    sentences = split_all_chunks_by_period()</a:t>
            </a:r>
            <a:br/>
            <a:r>
              <a:t>    query_emb = text_model.encode([query])</a:t>
            </a:r>
            <a:br/>
            <a:r>
              <a:t>    sent_embs = text_model.encode(sentences)</a:t>
            </a:r>
            <a:br/>
            <a:r>
              <a:t>    scores = np.dot(sent_embs, query_emb.T)</a:t>
            </a:r>
            <a:br/>
            <a:r>
              <a:t>    top_5 = np.argsort(scores)[::-1][:5]</a:t>
            </a:r>
            <a:br/>
            <a:r>
              <a:t>    return top_5_sentences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858000" y="1463040"/>
            <a:ext cx="45720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000" b="1">
                <a:solidFill>
                  <a:srgbClr val="065A82"/>
                </a:solidFill>
                <a:latin typeface="Calibri"/>
              </a:defRPr>
            </a:pPr>
            <a:r>
              <a:t>Key Points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858000" y="2103120"/>
            <a:ext cx="4754880" cy="3657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600">
                <a:solidFill>
                  <a:srgbClr val="2D2D2D"/>
                </a:solidFill>
                <a:latin typeface="Calibri"/>
              </a:defRPr>
            </a:pPr>
            <a:r>
              <a:t>Breaks chunks into individual sentences</a:t>
            </a:r>
          </a:p>
          <a:p>
            <a:pPr>
              <a:spcAft>
                <a:spcPts val="800"/>
              </a:spcAft>
              <a:defRPr sz="1600">
                <a:solidFill>
                  <a:srgbClr val="2D2D2D"/>
                </a:solidFill>
                <a:latin typeface="Calibri"/>
              </a:defRPr>
            </a:pPr>
            <a:r>
              <a:t>Encodes query + all sentences as vectors</a:t>
            </a:r>
          </a:p>
          <a:p>
            <a:pPr>
              <a:spcAft>
                <a:spcPts val="800"/>
              </a:spcAft>
              <a:defRPr sz="1600">
                <a:solidFill>
                  <a:srgbClr val="2D2D2D"/>
                </a:solidFill>
                <a:latin typeface="Calibri"/>
              </a:defRPr>
            </a:pPr>
            <a:r>
              <a:t>Cosine similarity ranks each sentence</a:t>
            </a:r>
          </a:p>
          <a:p>
            <a:pPr>
              <a:spcAft>
                <a:spcPts val="800"/>
              </a:spcAft>
              <a:defRPr sz="1600">
                <a:solidFill>
                  <a:srgbClr val="2D2D2D"/>
                </a:solidFill>
                <a:latin typeface="Calibri"/>
              </a:defRPr>
            </a:pPr>
            <a:r>
              <a:t>Returns top 5 most relevant (in original order)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1097280"/>
          </a:xfrm>
          <a:prstGeom prst="rect">
            <a:avLst/>
          </a:prstGeom>
          <a:solidFill>
            <a:srgbClr val="1E276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731520" y="228600"/>
            <a:ext cx="100584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3000" b="1">
                <a:solidFill>
                  <a:srgbClr val="FFFFFF"/>
                </a:solidFill>
                <a:latin typeface="Calibri"/>
              </a:defRPr>
            </a:pPr>
            <a:r>
              <a:t>Step 9-10: Chatbot Function</a:t>
            </a:r>
          </a:p>
        </p:txBody>
      </p:sp>
      <p:sp>
        <p:nvSpPr>
          <p:cNvPr id="4" name="Rectangle 3"/>
          <p:cNvSpPr/>
          <p:nvPr/>
        </p:nvSpPr>
        <p:spPr>
          <a:xfrm>
            <a:off x="457200" y="1463040"/>
            <a:ext cx="5943600" cy="4754880"/>
          </a:xfrm>
          <a:prstGeom prst="rect">
            <a:avLst/>
          </a:prstGeom>
          <a:solidFill>
            <a:srgbClr val="1E1E2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TextBox 4"/>
          <p:cNvSpPr txBox="1"/>
          <p:nvPr/>
        </p:nvSpPr>
        <p:spPr>
          <a:xfrm>
            <a:off x="731520" y="1645920"/>
            <a:ext cx="5486400" cy="43891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0">
                <a:solidFill>
                  <a:srgbClr val="A6E22E"/>
                </a:solidFill>
                <a:latin typeface="Consolas"/>
              </a:defRPr>
            </a:pPr>
            <a:r>
              <a:t>q_emb = text_model.encode([query])</a:t>
            </a:r>
            <a:br/>
            <a:r>
              <a:t>D, I = text_index.search(q_emb, k=10)</a:t>
            </a:r>
            <a:br/>
            <a:r>
              <a:t/>
            </a:r>
            <a:br/>
            <a:r>
              <a:t>if D[0][0] &lt; 0.35:  # Out-of-PDF!</a:t>
            </a:r>
            <a:br/>
            <a:r>
              <a:t>    print('Not related to document')</a:t>
            </a:r>
            <a:br/>
            <a:r>
              <a:t/>
            </a:r>
            <a:br/>
            <a:r>
              <a:t>for page in retrieved_pages:</a:t>
            </a:r>
            <a:br/>
            <a:r>
              <a:t>    for path in page_to_images[page]:</a:t>
            </a:r>
            <a:br/>
            <a:r>
              <a:t>        display(IPImage(filename=path))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858000" y="1463040"/>
            <a:ext cx="45720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000" b="1">
                <a:solidFill>
                  <a:srgbClr val="065A82"/>
                </a:solidFill>
                <a:latin typeface="Calibri"/>
              </a:defRPr>
            </a:pPr>
            <a:r>
              <a:t>Key Points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858000" y="2103120"/>
            <a:ext cx="4754880" cy="3657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600">
                <a:solidFill>
                  <a:srgbClr val="2D2D2D"/>
                </a:solidFill>
                <a:latin typeface="Calibri"/>
              </a:defRPr>
            </a:pPr>
            <a:r>
              <a:t>FAISS returns D (scores) and I (indices)</a:t>
            </a:r>
          </a:p>
          <a:p>
            <a:pPr>
              <a:spcAft>
                <a:spcPts val="800"/>
              </a:spcAft>
              <a:defRPr sz="1600">
                <a:solidFill>
                  <a:srgbClr val="2D2D2D"/>
                </a:solidFill>
                <a:latin typeface="Calibri"/>
              </a:defRPr>
            </a:pPr>
            <a:r>
              <a:t>Score &lt; 0.35 → question is NOT from PDF</a:t>
            </a:r>
          </a:p>
          <a:p>
            <a:pPr>
              <a:spcAft>
                <a:spcPts val="800"/>
              </a:spcAft>
              <a:defRPr sz="1600">
                <a:solidFill>
                  <a:srgbClr val="2D2D2D"/>
                </a:solidFill>
                <a:latin typeface="Calibri"/>
              </a:defRPr>
            </a:pPr>
            <a:r>
              <a:t>Chunks with score &gt; 0.25 are kept</a:t>
            </a:r>
          </a:p>
          <a:p>
            <a:pPr>
              <a:spcAft>
                <a:spcPts val="800"/>
              </a:spcAft>
              <a:defRPr sz="1600">
                <a:solidFill>
                  <a:srgbClr val="2D2D2D"/>
                </a:solidFill>
                <a:latin typeface="Calibri"/>
              </a:defRPr>
            </a:pPr>
            <a:r>
              <a:t>Images displayed from matching pages only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1097280"/>
          </a:xfrm>
          <a:prstGeom prst="rect">
            <a:avLst/>
          </a:prstGeom>
          <a:solidFill>
            <a:srgbClr val="1E276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731520" y="228600"/>
            <a:ext cx="100584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3000" b="1">
                <a:solidFill>
                  <a:srgbClr val="FFFFFF"/>
                </a:solidFill>
                <a:latin typeface="Calibri"/>
              </a:defRPr>
            </a:pPr>
            <a:r>
              <a:t>Step 11: Out-of-PDF Detection</a:t>
            </a:r>
          </a:p>
        </p:txBody>
      </p:sp>
      <p:sp>
        <p:nvSpPr>
          <p:cNvPr id="4" name="Rectangle 3"/>
          <p:cNvSpPr/>
          <p:nvPr/>
        </p:nvSpPr>
        <p:spPr>
          <a:xfrm>
            <a:off x="457200" y="1463040"/>
            <a:ext cx="5943600" cy="4754880"/>
          </a:xfrm>
          <a:prstGeom prst="rect">
            <a:avLst/>
          </a:prstGeom>
          <a:solidFill>
            <a:srgbClr val="1E1E2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TextBox 4"/>
          <p:cNvSpPr txBox="1"/>
          <p:nvPr/>
        </p:nvSpPr>
        <p:spPr>
          <a:xfrm>
            <a:off x="731520" y="1645920"/>
            <a:ext cx="5486400" cy="43891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0">
                <a:solidFill>
                  <a:srgbClr val="A6E22E"/>
                </a:solidFill>
                <a:latin typeface="Consolas"/>
              </a:defRPr>
            </a:pPr>
            <a:r>
              <a:t># In-PDF question:</a:t>
            </a:r>
            <a:br/>
            <a:r>
              <a:t># 'Custom Dashboard Design?' → score: 0.72 ✅</a:t>
            </a:r>
            <a:br/>
            <a:r>
              <a:t/>
            </a:r>
            <a:br/>
            <a:r>
              <a:t># Out-of-PDF question:</a:t>
            </a:r>
            <a:br/>
            <a:r>
              <a:t># 'What is the weather?' → score: 0.08 ❌</a:t>
            </a:r>
            <a:br/>
            <a:r>
              <a:t/>
            </a:r>
            <a:br/>
            <a:r>
              <a:t># Threshold: 0.35</a:t>
            </a:r>
            <a:br/>
            <a:r>
              <a:t># Above → answer from document</a:t>
            </a:r>
            <a:br/>
            <a:r>
              <a:t># Below → 'Not related to document'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858000" y="1463040"/>
            <a:ext cx="45720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000" b="1">
                <a:solidFill>
                  <a:srgbClr val="065A82"/>
                </a:solidFill>
                <a:latin typeface="Calibri"/>
              </a:defRPr>
            </a:pPr>
            <a:r>
              <a:t>Key Points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858000" y="2103120"/>
            <a:ext cx="4754880" cy="3657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600">
                <a:solidFill>
                  <a:srgbClr val="2D2D2D"/>
                </a:solidFill>
                <a:latin typeface="Calibri"/>
              </a:defRPr>
            </a:pPr>
            <a:r>
              <a:t>Cosine similarity measures semantic match</a:t>
            </a:r>
          </a:p>
          <a:p>
            <a:pPr>
              <a:spcAft>
                <a:spcPts val="800"/>
              </a:spcAft>
              <a:defRPr sz="1600">
                <a:solidFill>
                  <a:srgbClr val="2D2D2D"/>
                </a:solidFill>
                <a:latin typeface="Calibri"/>
              </a:defRPr>
            </a:pPr>
            <a:r>
              <a:t>0.35 threshold tested for document Q&amp;A</a:t>
            </a:r>
          </a:p>
          <a:p>
            <a:pPr>
              <a:spcAft>
                <a:spcPts val="800"/>
              </a:spcAft>
              <a:defRPr sz="1600">
                <a:solidFill>
                  <a:srgbClr val="2D2D2D"/>
                </a:solidFill>
                <a:latin typeface="Calibri"/>
              </a:defRPr>
            </a:pPr>
            <a:r>
              <a:t>Prevents chatbot from answering irrelevant questions</a:t>
            </a:r>
          </a:p>
          <a:p>
            <a:pPr>
              <a:spcAft>
                <a:spcPts val="800"/>
              </a:spcAft>
              <a:defRPr sz="1600">
                <a:solidFill>
                  <a:srgbClr val="2D2D2D"/>
                </a:solidFill>
                <a:latin typeface="Calibri"/>
              </a:defRPr>
            </a:pPr>
            <a:r>
              <a:t>No LLM needed — pure vector similarity check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1097280"/>
          </a:xfrm>
          <a:prstGeom prst="rect">
            <a:avLst/>
          </a:prstGeom>
          <a:solidFill>
            <a:srgbClr val="1E276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731520" y="228600"/>
            <a:ext cx="100584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3000" b="1">
                <a:solidFill>
                  <a:srgbClr val="FFFFFF"/>
                </a:solidFill>
                <a:latin typeface="Calibri"/>
              </a:defRPr>
            </a:pPr>
            <a:r>
              <a:t>Live Example: 'Custom Dashboard Design Mode'</a:t>
            </a:r>
          </a:p>
        </p:txBody>
      </p:sp>
      <p:sp>
        <p:nvSpPr>
          <p:cNvPr id="4" name="Rectangle 3"/>
          <p:cNvSpPr/>
          <p:nvPr/>
        </p:nvSpPr>
        <p:spPr>
          <a:xfrm>
            <a:off x="274320" y="1828800"/>
            <a:ext cx="2103120" cy="3200400"/>
          </a:xfrm>
          <a:prstGeom prst="rect">
            <a:avLst/>
          </a:prstGeom>
          <a:solidFill>
            <a:srgbClr val="F5F7F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Oval 4"/>
          <p:cNvSpPr/>
          <p:nvPr/>
        </p:nvSpPr>
        <p:spPr>
          <a:xfrm>
            <a:off x="960120" y="2103120"/>
            <a:ext cx="731520" cy="731520"/>
          </a:xfrm>
          <a:prstGeom prst="ellipse">
            <a:avLst/>
          </a:prstGeom>
          <a:solidFill>
            <a:srgbClr val="065A8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2800" b="1">
                <a:solidFill>
                  <a:srgbClr val="FFFFFF"/>
                </a:solidFill>
              </a:defRPr>
            </a:pPr>
            <a:r>
              <a:t>1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365760" y="3108960"/>
            <a:ext cx="192024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800" b="1">
                <a:solidFill>
                  <a:srgbClr val="1E2761"/>
                </a:solidFill>
                <a:latin typeface="Calibri"/>
              </a:defRPr>
            </a:pPr>
            <a:r>
              <a:t>Encode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365760" y="3657600"/>
            <a:ext cx="192024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400" b="0">
                <a:solidFill>
                  <a:srgbClr val="2D2D2D"/>
                </a:solidFill>
                <a:latin typeface="Calibri"/>
              </a:defRPr>
            </a:pPr>
            <a:r>
              <a:t>Query → 384-dim vector</a:t>
            </a:r>
          </a:p>
        </p:txBody>
      </p:sp>
      <p:sp>
        <p:nvSpPr>
          <p:cNvPr id="8" name="Rectangle 7"/>
          <p:cNvSpPr/>
          <p:nvPr/>
        </p:nvSpPr>
        <p:spPr>
          <a:xfrm>
            <a:off x="2651760" y="1828800"/>
            <a:ext cx="2103120" cy="3200400"/>
          </a:xfrm>
          <a:prstGeom prst="rect">
            <a:avLst/>
          </a:prstGeom>
          <a:solidFill>
            <a:srgbClr val="F5F7F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" name="Oval 8"/>
          <p:cNvSpPr/>
          <p:nvPr/>
        </p:nvSpPr>
        <p:spPr>
          <a:xfrm>
            <a:off x="3337560" y="2103120"/>
            <a:ext cx="731520" cy="731520"/>
          </a:xfrm>
          <a:prstGeom prst="ellipse">
            <a:avLst/>
          </a:prstGeom>
          <a:solidFill>
            <a:srgbClr val="065A8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2800" b="1">
                <a:solidFill>
                  <a:srgbClr val="FFFFFF"/>
                </a:solidFill>
              </a:defRPr>
            </a:pPr>
            <a:r>
              <a:t>2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2743200" y="3108960"/>
            <a:ext cx="192024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800" b="1">
                <a:solidFill>
                  <a:srgbClr val="1E2761"/>
                </a:solidFill>
                <a:latin typeface="Calibri"/>
              </a:defRPr>
            </a:pPr>
            <a:r>
              <a:t>Search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2743200" y="3657600"/>
            <a:ext cx="192024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400" b="0">
                <a:solidFill>
                  <a:srgbClr val="2D2D2D"/>
                </a:solidFill>
                <a:latin typeface="Calibri"/>
              </a:defRPr>
            </a:pPr>
            <a:r>
              <a:t>FAISS → Page 22 (score: 0.72)</a:t>
            </a:r>
          </a:p>
        </p:txBody>
      </p:sp>
      <p:sp>
        <p:nvSpPr>
          <p:cNvPr id="12" name="Rectangle 11"/>
          <p:cNvSpPr/>
          <p:nvPr/>
        </p:nvSpPr>
        <p:spPr>
          <a:xfrm>
            <a:off x="5029200" y="1828800"/>
            <a:ext cx="2103120" cy="3200400"/>
          </a:xfrm>
          <a:prstGeom prst="rect">
            <a:avLst/>
          </a:prstGeom>
          <a:solidFill>
            <a:srgbClr val="F5F7F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3" name="Oval 12"/>
          <p:cNvSpPr/>
          <p:nvPr/>
        </p:nvSpPr>
        <p:spPr>
          <a:xfrm>
            <a:off x="5715000" y="2103120"/>
            <a:ext cx="731520" cy="731520"/>
          </a:xfrm>
          <a:prstGeom prst="ellipse">
            <a:avLst/>
          </a:prstGeom>
          <a:solidFill>
            <a:srgbClr val="065A8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2800" b="1">
                <a:solidFill>
                  <a:srgbClr val="FFFFFF"/>
                </a:solidFill>
              </a:defRPr>
            </a:pPr>
            <a:r>
              <a:t>3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5120640" y="3108960"/>
            <a:ext cx="192024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800" b="1">
                <a:solidFill>
                  <a:srgbClr val="1E2761"/>
                </a:solidFill>
                <a:latin typeface="Calibri"/>
              </a:defRPr>
            </a:pPr>
            <a:r>
              <a:t>Check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5120640" y="3657600"/>
            <a:ext cx="192024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400" b="0">
                <a:solidFill>
                  <a:srgbClr val="2D2D2D"/>
                </a:solidFill>
                <a:latin typeface="Calibri"/>
              </a:defRPr>
            </a:pPr>
            <a:r>
              <a:t>0.72 &gt; 0.35 → Relevant ✅</a:t>
            </a:r>
          </a:p>
        </p:txBody>
      </p:sp>
      <p:sp>
        <p:nvSpPr>
          <p:cNvPr id="16" name="Rectangle 15"/>
          <p:cNvSpPr/>
          <p:nvPr/>
        </p:nvSpPr>
        <p:spPr>
          <a:xfrm>
            <a:off x="7406640" y="1828800"/>
            <a:ext cx="2103120" cy="3200400"/>
          </a:xfrm>
          <a:prstGeom prst="rect">
            <a:avLst/>
          </a:prstGeom>
          <a:solidFill>
            <a:srgbClr val="F5F7F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7" name="Oval 16"/>
          <p:cNvSpPr/>
          <p:nvPr/>
        </p:nvSpPr>
        <p:spPr>
          <a:xfrm>
            <a:off x="8092440" y="2103120"/>
            <a:ext cx="731520" cy="731520"/>
          </a:xfrm>
          <a:prstGeom prst="ellipse">
            <a:avLst/>
          </a:prstGeom>
          <a:solidFill>
            <a:srgbClr val="065A8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2800" b="1">
                <a:solidFill>
                  <a:srgbClr val="FFFFFF"/>
                </a:solidFill>
              </a:defRPr>
            </a:pPr>
            <a:r>
              <a:t>4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7498080" y="3108960"/>
            <a:ext cx="192024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800" b="1">
                <a:solidFill>
                  <a:srgbClr val="1E2761"/>
                </a:solidFill>
                <a:latin typeface="Calibri"/>
              </a:defRPr>
            </a:pPr>
            <a:r>
              <a:t>Answer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7498080" y="3657600"/>
            <a:ext cx="192024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400" b="0">
                <a:solidFill>
                  <a:srgbClr val="2D2D2D"/>
                </a:solidFill>
                <a:latin typeface="Calibri"/>
              </a:defRPr>
            </a:pPr>
            <a:r>
              <a:t>Top 5 sentences extracted</a:t>
            </a:r>
          </a:p>
        </p:txBody>
      </p:sp>
      <p:sp>
        <p:nvSpPr>
          <p:cNvPr id="20" name="Rectangle 19"/>
          <p:cNvSpPr/>
          <p:nvPr/>
        </p:nvSpPr>
        <p:spPr>
          <a:xfrm>
            <a:off x="9784080" y="1828800"/>
            <a:ext cx="2103120" cy="3200400"/>
          </a:xfrm>
          <a:prstGeom prst="rect">
            <a:avLst/>
          </a:prstGeom>
          <a:solidFill>
            <a:srgbClr val="F5F7F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1" name="Oval 20"/>
          <p:cNvSpPr/>
          <p:nvPr/>
        </p:nvSpPr>
        <p:spPr>
          <a:xfrm>
            <a:off x="10469880" y="2103120"/>
            <a:ext cx="731520" cy="731520"/>
          </a:xfrm>
          <a:prstGeom prst="ellipse">
            <a:avLst/>
          </a:prstGeom>
          <a:solidFill>
            <a:srgbClr val="065A8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2800" b="1">
                <a:solidFill>
                  <a:srgbClr val="FFFFFF"/>
                </a:solidFill>
              </a:defRPr>
            </a:pPr>
            <a:r>
              <a:t>5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9875520" y="3108960"/>
            <a:ext cx="192024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800" b="1">
                <a:solidFill>
                  <a:srgbClr val="1E2761"/>
                </a:solidFill>
                <a:latin typeface="Calibri"/>
              </a:defRPr>
            </a:pPr>
            <a:r>
              <a:t>Images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9875520" y="3657600"/>
            <a:ext cx="192024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400" b="0">
                <a:solidFill>
                  <a:srgbClr val="2D2D2D"/>
                </a:solidFill>
                <a:latin typeface="Calibri"/>
              </a:defRPr>
            </a:pPr>
            <a:r>
              <a:t>page_to_images[22] displayed</a:t>
            </a: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1097280"/>
          </a:xfrm>
          <a:prstGeom prst="rect">
            <a:avLst/>
          </a:prstGeom>
          <a:solidFill>
            <a:srgbClr val="1E276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731520" y="228600"/>
            <a:ext cx="100584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3200" b="1">
                <a:solidFill>
                  <a:srgbClr val="FFFFFF"/>
                </a:solidFill>
                <a:latin typeface="Calibri"/>
              </a:defRPr>
            </a:pPr>
            <a:r>
              <a:t>Key Concepts</a:t>
            </a:r>
          </a:p>
        </p:txBody>
      </p:sp>
      <p:sp>
        <p:nvSpPr>
          <p:cNvPr id="4" name="Rectangle 3"/>
          <p:cNvSpPr/>
          <p:nvPr/>
        </p:nvSpPr>
        <p:spPr>
          <a:xfrm>
            <a:off x="365760" y="1645920"/>
            <a:ext cx="2651760" cy="4114800"/>
          </a:xfrm>
          <a:prstGeom prst="rect">
            <a:avLst/>
          </a:prstGeom>
          <a:solidFill>
            <a:srgbClr val="F5F7F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Rectangle 4"/>
          <p:cNvSpPr/>
          <p:nvPr/>
        </p:nvSpPr>
        <p:spPr>
          <a:xfrm>
            <a:off x="365760" y="1645920"/>
            <a:ext cx="2651760" cy="73152"/>
          </a:xfrm>
          <a:prstGeom prst="rect">
            <a:avLst/>
          </a:prstGeom>
          <a:solidFill>
            <a:srgbClr val="065A8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TextBox 5"/>
          <p:cNvSpPr txBox="1"/>
          <p:nvPr/>
        </p:nvSpPr>
        <p:spPr>
          <a:xfrm>
            <a:off x="548640" y="2011680"/>
            <a:ext cx="22860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2200" b="1">
                <a:solidFill>
                  <a:srgbClr val="1E2761"/>
                </a:solidFill>
                <a:latin typeface="Calibri"/>
              </a:defRPr>
            </a:pPr>
            <a:r>
              <a:t>Embeddings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48640" y="2743200"/>
            <a:ext cx="2286000" cy="2743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500" b="0">
                <a:solidFill>
                  <a:srgbClr val="2D2D2D"/>
                </a:solidFill>
                <a:latin typeface="Calibri"/>
              </a:defRPr>
            </a:pPr>
            <a:r>
              <a:t>Text/images → numerical vectors.</a:t>
            </a:r>
            <a:br/>
            <a:r>
              <a:t>Similar content = similar vectors.</a:t>
            </a:r>
          </a:p>
        </p:txBody>
      </p:sp>
      <p:sp>
        <p:nvSpPr>
          <p:cNvPr id="8" name="Rectangle 7"/>
          <p:cNvSpPr/>
          <p:nvPr/>
        </p:nvSpPr>
        <p:spPr>
          <a:xfrm>
            <a:off x="3291840" y="1645920"/>
            <a:ext cx="2651760" cy="4114800"/>
          </a:xfrm>
          <a:prstGeom prst="rect">
            <a:avLst/>
          </a:prstGeom>
          <a:solidFill>
            <a:srgbClr val="F5F7F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" name="Rectangle 8"/>
          <p:cNvSpPr/>
          <p:nvPr/>
        </p:nvSpPr>
        <p:spPr>
          <a:xfrm>
            <a:off x="3291840" y="1645920"/>
            <a:ext cx="2651760" cy="73152"/>
          </a:xfrm>
          <a:prstGeom prst="rect">
            <a:avLst/>
          </a:prstGeom>
          <a:solidFill>
            <a:srgbClr val="065A8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" name="TextBox 9"/>
          <p:cNvSpPr txBox="1"/>
          <p:nvPr/>
        </p:nvSpPr>
        <p:spPr>
          <a:xfrm>
            <a:off x="3474720" y="2011680"/>
            <a:ext cx="22860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2200" b="1">
                <a:solidFill>
                  <a:srgbClr val="1E2761"/>
                </a:solidFill>
                <a:latin typeface="Calibri"/>
              </a:defRPr>
            </a:pPr>
            <a:r>
              <a:t>Cosine Similarity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3474720" y="2743200"/>
            <a:ext cx="2286000" cy="2743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500" b="0">
                <a:solidFill>
                  <a:srgbClr val="2D2D2D"/>
                </a:solidFill>
                <a:latin typeface="Calibri"/>
              </a:defRPr>
            </a:pPr>
            <a:r>
              <a:t>Measures angle between vectors.</a:t>
            </a:r>
            <a:br/>
            <a:r>
              <a:t>1.0 = identical, 0.0 = unrelated.</a:t>
            </a:r>
          </a:p>
        </p:txBody>
      </p:sp>
      <p:sp>
        <p:nvSpPr>
          <p:cNvPr id="12" name="Rectangle 11"/>
          <p:cNvSpPr/>
          <p:nvPr/>
        </p:nvSpPr>
        <p:spPr>
          <a:xfrm>
            <a:off x="6217920" y="1645920"/>
            <a:ext cx="2651760" cy="4114800"/>
          </a:xfrm>
          <a:prstGeom prst="rect">
            <a:avLst/>
          </a:prstGeom>
          <a:solidFill>
            <a:srgbClr val="F5F7F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3" name="Rectangle 12"/>
          <p:cNvSpPr/>
          <p:nvPr/>
        </p:nvSpPr>
        <p:spPr>
          <a:xfrm>
            <a:off x="6217920" y="1645920"/>
            <a:ext cx="2651760" cy="73152"/>
          </a:xfrm>
          <a:prstGeom prst="rect">
            <a:avLst/>
          </a:prstGeom>
          <a:solidFill>
            <a:srgbClr val="065A8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4" name="TextBox 13"/>
          <p:cNvSpPr txBox="1"/>
          <p:nvPr/>
        </p:nvSpPr>
        <p:spPr>
          <a:xfrm>
            <a:off x="6400800" y="2011680"/>
            <a:ext cx="22860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2200" b="1">
                <a:solidFill>
                  <a:srgbClr val="1E2761"/>
                </a:solidFill>
                <a:latin typeface="Calibri"/>
              </a:defRPr>
            </a:pPr>
            <a:r>
              <a:t>FAISS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6400800" y="2743200"/>
            <a:ext cx="2286000" cy="2743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500" b="0">
                <a:solidFill>
                  <a:srgbClr val="2D2D2D"/>
                </a:solidFill>
                <a:latin typeface="Calibri"/>
              </a:defRPr>
            </a:pPr>
            <a:r>
              <a:t>Facebook's vector search library.</a:t>
            </a:r>
            <a:br/>
            <a:r>
              <a:t>Finds nearest neighbors in milliseconds.</a:t>
            </a:r>
          </a:p>
        </p:txBody>
      </p:sp>
      <p:sp>
        <p:nvSpPr>
          <p:cNvPr id="16" name="Rectangle 15"/>
          <p:cNvSpPr/>
          <p:nvPr/>
        </p:nvSpPr>
        <p:spPr>
          <a:xfrm>
            <a:off x="9144000" y="1645920"/>
            <a:ext cx="2651760" cy="4114800"/>
          </a:xfrm>
          <a:prstGeom prst="rect">
            <a:avLst/>
          </a:prstGeom>
          <a:solidFill>
            <a:srgbClr val="F5F7F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7" name="Rectangle 16"/>
          <p:cNvSpPr/>
          <p:nvPr/>
        </p:nvSpPr>
        <p:spPr>
          <a:xfrm>
            <a:off x="9144000" y="1645920"/>
            <a:ext cx="2651760" cy="73152"/>
          </a:xfrm>
          <a:prstGeom prst="rect">
            <a:avLst/>
          </a:prstGeom>
          <a:solidFill>
            <a:srgbClr val="065A8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8" name="TextBox 17"/>
          <p:cNvSpPr txBox="1"/>
          <p:nvPr/>
        </p:nvSpPr>
        <p:spPr>
          <a:xfrm>
            <a:off x="9326880" y="2011680"/>
            <a:ext cx="22860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2200" b="1">
                <a:solidFill>
                  <a:srgbClr val="1E2761"/>
                </a:solidFill>
                <a:latin typeface="Calibri"/>
              </a:defRPr>
            </a:pPr>
            <a:r>
              <a:t>Normalization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9326880" y="2743200"/>
            <a:ext cx="2286000" cy="2743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500" b="0">
                <a:solidFill>
                  <a:srgbClr val="2D2D2D"/>
                </a:solidFill>
                <a:latin typeface="Calibri"/>
              </a:defRPr>
            </a:pPr>
            <a:r>
              <a:t>Vectors → unit length (1.0).</a:t>
            </a:r>
            <a:br/>
            <a:r>
              <a:t>Makes scores interpretable (0-1).</a:t>
            </a:r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1E276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914400" y="914400"/>
            <a:ext cx="1005840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4000" b="1">
                <a:solidFill>
                  <a:srgbClr val="FFFFFF"/>
                </a:solidFill>
                <a:latin typeface="Calibri"/>
              </a:defRPr>
            </a:pPr>
            <a:r>
              <a:t>Summary</a:t>
            </a:r>
          </a:p>
        </p:txBody>
      </p:sp>
      <p:sp>
        <p:nvSpPr>
          <p:cNvPr id="3" name="Rectangle 2"/>
          <p:cNvSpPr/>
          <p:nvPr/>
        </p:nvSpPr>
        <p:spPr>
          <a:xfrm>
            <a:off x="4114800" y="1828800"/>
            <a:ext cx="3657600" cy="38100"/>
          </a:xfrm>
          <a:prstGeom prst="rect">
            <a:avLst/>
          </a:prstGeom>
          <a:solidFill>
            <a:srgbClr val="00A89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TextBox 3"/>
          <p:cNvSpPr txBox="1"/>
          <p:nvPr/>
        </p:nvSpPr>
        <p:spPr>
          <a:xfrm>
            <a:off x="1828800" y="2560320"/>
            <a:ext cx="8229600" cy="3657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2000">
                <a:solidFill>
                  <a:srgbClr val="CADCFC"/>
                </a:solidFill>
                <a:latin typeface="Calibri"/>
              </a:defRPr>
            </a:pPr>
            <a:r>
              <a:t>PDF → Text chunks + Images (with page tracking)</a:t>
            </a:r>
          </a:p>
          <a:p>
            <a:pPr>
              <a:spcAft>
                <a:spcPts val="800"/>
              </a:spcAft>
              <a:defRPr sz="2000">
                <a:solidFill>
                  <a:srgbClr val="CADCFC"/>
                </a:solidFill>
                <a:latin typeface="Calibri"/>
              </a:defRPr>
            </a:pPr>
            <a:r>
              <a:t>Semantic search via normalized embeddings + FAISS</a:t>
            </a:r>
          </a:p>
          <a:p>
            <a:pPr>
              <a:spcAft>
                <a:spcPts val="800"/>
              </a:spcAft>
              <a:defRPr sz="2000">
                <a:solidFill>
                  <a:srgbClr val="CADCFC"/>
                </a:solidFill>
                <a:latin typeface="Calibri"/>
              </a:defRPr>
            </a:pPr>
            <a:r>
              <a:t>Out-of-PDF detection via cosine similarity threshold (0.35)</a:t>
            </a:r>
          </a:p>
          <a:p>
            <a:pPr>
              <a:spcAft>
                <a:spcPts val="800"/>
              </a:spcAft>
              <a:defRPr sz="2000">
                <a:solidFill>
                  <a:srgbClr val="CADCFC"/>
                </a:solidFill>
                <a:latin typeface="Calibri"/>
              </a:defRPr>
            </a:pPr>
            <a:r>
              <a:t>Page-based image retrieval (not CLIP) for accuracy</a:t>
            </a:r>
          </a:p>
          <a:p>
            <a:pPr>
              <a:spcAft>
                <a:spcPts val="800"/>
              </a:spcAft>
              <a:defRPr sz="2000">
                <a:solidFill>
                  <a:srgbClr val="CADCFC"/>
                </a:solidFill>
                <a:latin typeface="Calibri"/>
              </a:defRPr>
            </a:pPr>
            <a:r>
              <a:t>Best-sentence extraction for focused answers</a:t>
            </a:r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1E276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914400" y="1828800"/>
            <a:ext cx="10058400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5200" b="1">
                <a:solidFill>
                  <a:srgbClr val="FFFFFF"/>
                </a:solidFill>
                <a:latin typeface="Calibri"/>
              </a:defRPr>
            </a:pPr>
            <a:r>
              <a:t>Thank You!</a:t>
            </a:r>
          </a:p>
        </p:txBody>
      </p:sp>
      <p:sp>
        <p:nvSpPr>
          <p:cNvPr id="3" name="Rectangle 2"/>
          <p:cNvSpPr/>
          <p:nvPr/>
        </p:nvSpPr>
        <p:spPr>
          <a:xfrm>
            <a:off x="4114800" y="3474720"/>
            <a:ext cx="3657600" cy="38100"/>
          </a:xfrm>
          <a:prstGeom prst="rect">
            <a:avLst/>
          </a:prstGeom>
          <a:solidFill>
            <a:srgbClr val="00A89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TextBox 3"/>
          <p:cNvSpPr txBox="1"/>
          <p:nvPr/>
        </p:nvSpPr>
        <p:spPr>
          <a:xfrm>
            <a:off x="914400" y="4114800"/>
            <a:ext cx="1005840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2800" b="0">
                <a:solidFill>
                  <a:srgbClr val="CADCFC"/>
                </a:solidFill>
                <a:latin typeface="Calibri"/>
              </a:defRPr>
            </a:pPr>
            <a:r>
              <a:t>Questions?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145</TotalTime>
  <Words>685</Words>
  <Application>Microsoft Office PowerPoint</Application>
  <PresentationFormat>Custom</PresentationFormat>
  <Paragraphs>129</Paragraphs>
  <Slides>17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17</vt:i4>
      </vt:variant>
    </vt:vector>
  </HeadingPairs>
  <TitlesOfParts>
    <vt:vector size="18" baseType="lpstr"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Presentation</dc:title>
  <dc:subject/>
  <dc:creator/>
  <cp:keywords/>
  <dc:description>generated using python-pptx</dc:description>
  <cp:lastModifiedBy>LENOVO</cp:lastModifiedBy>
  <cp:revision>3</cp:revision>
  <dcterms:created xsi:type="dcterms:W3CDTF">2013-01-27T09:14:16Z</dcterms:created>
  <dcterms:modified xsi:type="dcterms:W3CDTF">2026-04-02T07:29:30Z</dcterms:modified>
  <cp:category/>
</cp:coreProperties>
</file>